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Cormorant"/>
      <p:regular r:id="rId10"/>
      <p:bold r:id="rId11"/>
      <p:italic r:id="rId12"/>
      <p:boldItalic r:id="rId13"/>
    </p:embeddedFont>
    <p:embeddedFont>
      <p:font typeface="Nunito Sans"/>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Cormorant-bold.fntdata"/><Relationship Id="rId10" Type="http://schemas.openxmlformats.org/officeDocument/2006/relationships/font" Target="fonts/Cormorant-regular.fntdata"/><Relationship Id="rId13" Type="http://schemas.openxmlformats.org/officeDocument/2006/relationships/font" Target="fonts/Cormorant-boldItalic.fntdata"/><Relationship Id="rId12" Type="http://schemas.openxmlformats.org/officeDocument/2006/relationships/font" Target="fonts/Cormoran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Sans-bold.fntdata"/><Relationship Id="rId14" Type="http://schemas.openxmlformats.org/officeDocument/2006/relationships/font" Target="fonts/NunitoSans-regular.fntdata"/><Relationship Id="rId17" Type="http://schemas.openxmlformats.org/officeDocument/2006/relationships/font" Target="fonts/NunitoSans-boldItalic.fntdata"/><Relationship Id="rId16" Type="http://schemas.openxmlformats.org/officeDocument/2006/relationships/font" Target="fonts/Nunito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8b01eb64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8b01eb64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Kevin and Bjorn (Student AI Usage)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8b01eb64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8b01eb64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Rhyan and Zhanyi (Academic Integrity)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8b01eb64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8b01eb64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UNC's Organizational Framework for AI</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UNC structures AI initiatives around three main pillars: teaching, research, and operations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Enablers</a:t>
            </a:r>
            <a:r>
              <a:rPr lang="en">
                <a:solidFill>
                  <a:schemeClr val="dk1"/>
                </a:solidFill>
              </a:rPr>
              <a:t> cut across all pillars and include guidelines, survey metrics, AI community, AI experts, and website resources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Teaching focus</a:t>
            </a:r>
            <a:r>
              <a:rPr lang="en">
                <a:solidFill>
                  <a:schemeClr val="dk1"/>
                </a:solidFill>
              </a:rPr>
              <a:t>: Curriculum changes addressing how to use AI and how it's applied in specific disciplines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Research considerations</a:t>
            </a:r>
            <a:r>
              <a:rPr lang="en">
                <a:solidFill>
                  <a:schemeClr val="dk1"/>
                </a:solidFill>
              </a:rPr>
              <a:t>: Both advancing AI research and using AI as a research tool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Operations applications</a:t>
            </a:r>
            <a:r>
              <a:rPr lang="en">
                <a:solidFill>
                  <a:schemeClr val="dk1"/>
                </a:solidFill>
              </a:rPr>
              <a:t>: AI implementation in areas like admissions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Philosophy layer sits at the top, guiding the university's overall approach to AI</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Organizational Structure and Leadership</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UNC appointed a Chief AI Officer within the last few months, though this position should ideally have been created earlier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Chief AI Officer operates at the university level; individual schools like the business school don't have dedicated AI leadership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the past three years, UNC's AI initiatives have been driven by a bottom-up approach led by a committee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committee has primarily focused on the enabler layer with some work in other areas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Business schools should consider appointing someone to take a holistic view of AI implementation and create comprehensive plans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Policy vs. Guidelines in Decentralized Universities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Universities are highly decentralized organizations where faculty have significant autonomy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Creating one universal AI policy that all faculty must follow is unlikely because professors typically set their own class policies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UNC distinguishes between </a:t>
            </a:r>
            <a:r>
              <a:rPr b="1" lang="en">
                <a:solidFill>
                  <a:schemeClr val="dk1"/>
                </a:solidFill>
              </a:rPr>
              <a:t>policy</a:t>
            </a:r>
            <a:r>
              <a:rPr lang="en">
                <a:solidFill>
                  <a:schemeClr val="dk1"/>
                </a:solidFill>
              </a:rPr>
              <a:t> (officially approved by chancellor or faculty council, mandatory) and </a:t>
            </a:r>
            <a:r>
              <a:rPr b="1" lang="en">
                <a:solidFill>
                  <a:schemeClr val="dk1"/>
                </a:solidFill>
              </a:rPr>
              <a:t>guidelines</a:t>
            </a:r>
            <a:r>
              <a:rPr lang="en">
                <a:solidFill>
                  <a:schemeClr val="dk1"/>
                </a:solidFill>
              </a:rPr>
              <a:t> (best practices and recommendations)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Guidelines are preferred for two reasons: AI changes too rapidly for formal policy approval processes, and faculty resist being told what to do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UNC created guidelines that professors can choose to adopt for their classes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AI Acceleration Program</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Program provides funding for AI projects in teaching, research, and operations for faculty, students, and staff</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Currently supports half a dozen to a dozen active projects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Resources provided</a:t>
            </a:r>
            <a:r>
              <a:rPr lang="en">
                <a:solidFill>
                  <a:schemeClr val="dk1"/>
                </a:solidFill>
              </a:rPr>
              <a:t>: Project funding, technical expertise and support, compute resources, and IT risk management assistance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Major consideration is compliance with regulations like FERPA and data protection requirements when using AI</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Academic Integrity Challenges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Balancing academic integrity and critical thinking with workforce demands for AI-proficient graduates remains an unsolved challenge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 university has fully figured out how to address widespread AI usage and potential cheating</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1796902" y="116162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ormorant"/>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Google Shape;13;p2"/>
          <p:cNvSpPr txBox="1"/>
          <p:nvPr>
            <p:ph idx="1" type="subTitle"/>
          </p:nvPr>
        </p:nvSpPr>
        <p:spPr>
          <a:xfrm>
            <a:off x="1796902" y="3484821"/>
            <a:ext cx="6858000" cy="273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dk1"/>
              </a:buClr>
              <a:buSzPts val="1200"/>
              <a:buNone/>
              <a:defRPr sz="1200" cap="none">
                <a:solidFill>
                  <a:schemeClr val="dk1"/>
                </a:solidFill>
                <a:latin typeface="Nunito Sans"/>
                <a:ea typeface="Nunito Sans"/>
                <a:cs typeface="Nunito Sans"/>
                <a:sym typeface="Nunito Sans"/>
              </a:defRPr>
            </a:lvl1pPr>
            <a:lvl2pPr lvl="1" algn="ctr">
              <a:lnSpc>
                <a:spcPct val="90000"/>
              </a:lnSpc>
              <a:spcBef>
                <a:spcPts val="400"/>
              </a:spcBef>
              <a:spcAft>
                <a:spcPts val="0"/>
              </a:spcAft>
              <a:buClr>
                <a:schemeClr val="lt1"/>
              </a:buClr>
              <a:buSzPts val="1500"/>
              <a:buNone/>
              <a:defRPr sz="1500"/>
            </a:lvl2pPr>
            <a:lvl3pPr lvl="2" algn="ctr">
              <a:lnSpc>
                <a:spcPct val="90000"/>
              </a:lnSpc>
              <a:spcBef>
                <a:spcPts val="400"/>
              </a:spcBef>
              <a:spcAft>
                <a:spcPts val="0"/>
              </a:spcAft>
              <a:buClr>
                <a:schemeClr val="lt1"/>
              </a:buClr>
              <a:buSzPts val="1400"/>
              <a:buNone/>
              <a:defRPr sz="1400"/>
            </a:lvl3pPr>
            <a:lvl4pPr lvl="3" algn="ctr">
              <a:lnSpc>
                <a:spcPct val="90000"/>
              </a:lnSpc>
              <a:spcBef>
                <a:spcPts val="400"/>
              </a:spcBef>
              <a:spcAft>
                <a:spcPts val="0"/>
              </a:spcAft>
              <a:buClr>
                <a:schemeClr val="lt1"/>
              </a:buClr>
              <a:buSzPts val="1200"/>
              <a:buNone/>
              <a:defRPr sz="1200"/>
            </a:lvl4pPr>
            <a:lvl5pPr lvl="4" algn="ctr">
              <a:lnSpc>
                <a:spcPct val="90000"/>
              </a:lnSpc>
              <a:spcBef>
                <a:spcPts val="400"/>
              </a:spcBef>
              <a:spcAft>
                <a:spcPts val="0"/>
              </a:spcAft>
              <a:buClr>
                <a:schemeClr val="lt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Google Shape;14;p2"/>
          <p:cNvSpPr txBox="1"/>
          <p:nvPr>
            <p:ph idx="10" type="dt"/>
          </p:nvPr>
        </p:nvSpPr>
        <p:spPr>
          <a:xfrm>
            <a:off x="1796902" y="4767262"/>
            <a:ext cx="1590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Google Shape;15;p2"/>
          <p:cNvSpPr txBox="1"/>
          <p:nvPr>
            <p:ph idx="11" type="ftr"/>
          </p:nvPr>
        </p:nvSpPr>
        <p:spPr>
          <a:xfrm>
            <a:off x="3468170" y="4767261"/>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Google Shape;16;p2"/>
          <p:cNvSpPr txBox="1"/>
          <p:nvPr>
            <p:ph idx="12" type="sldNum"/>
          </p:nvPr>
        </p:nvSpPr>
        <p:spPr>
          <a:xfrm>
            <a:off x="6635276" y="4767261"/>
            <a:ext cx="20196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2"/>
          <p:cNvSpPr txBox="1"/>
          <p:nvPr>
            <p:ph idx="2" type="body"/>
          </p:nvPr>
        </p:nvSpPr>
        <p:spPr>
          <a:xfrm>
            <a:off x="1796902" y="3818762"/>
            <a:ext cx="6858000" cy="3261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400"/>
              <a:buFont typeface="Cormorant"/>
              <a:buNone/>
              <a:defRPr sz="1400">
                <a:solidFill>
                  <a:schemeClr val="dk1"/>
                </a:solidFill>
                <a:latin typeface="Cormorant"/>
                <a:ea typeface="Cormorant"/>
                <a:cs typeface="Cormorant"/>
                <a:sym typeface="Cormorant"/>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1095788" y="258573"/>
            <a:ext cx="7419600" cy="657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 name="Google Shape;20;p3"/>
          <p:cNvSpPr txBox="1"/>
          <p:nvPr>
            <p:ph idx="1" type="body"/>
          </p:nvPr>
        </p:nvSpPr>
        <p:spPr>
          <a:xfrm>
            <a:off x="1095788" y="1051063"/>
            <a:ext cx="7419600" cy="3581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 name="Google Shape;21;p3"/>
          <p:cNvSpPr txBox="1"/>
          <p:nvPr>
            <p:ph idx="10" type="dt"/>
          </p:nvPr>
        </p:nvSpPr>
        <p:spPr>
          <a:xfrm>
            <a:off x="1095788" y="4767263"/>
            <a:ext cx="1590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Google Shape;22;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 name="Google Shape;23;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1097670" y="1302544"/>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ormorant"/>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 name="Google Shape;26;p4"/>
          <p:cNvSpPr txBox="1"/>
          <p:nvPr>
            <p:ph idx="1" type="body"/>
          </p:nvPr>
        </p:nvSpPr>
        <p:spPr>
          <a:xfrm>
            <a:off x="1097670"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BFAD91"/>
              </a:buClr>
              <a:buSzPts val="1800"/>
              <a:buNone/>
              <a:defRPr sz="1800">
                <a:solidFill>
                  <a:srgbClr val="BFAD91"/>
                </a:solidFill>
              </a:defRPr>
            </a:lvl1pPr>
            <a:lvl2pPr indent="-228600" lvl="1" marL="914400" algn="l">
              <a:lnSpc>
                <a:spcPct val="90000"/>
              </a:lnSpc>
              <a:spcBef>
                <a:spcPts val="400"/>
              </a:spcBef>
              <a:spcAft>
                <a:spcPts val="0"/>
              </a:spcAft>
              <a:buClr>
                <a:srgbClr val="BFAD91"/>
              </a:buClr>
              <a:buSzPts val="1500"/>
              <a:buNone/>
              <a:defRPr sz="1500">
                <a:solidFill>
                  <a:srgbClr val="BFAD91"/>
                </a:solidFill>
              </a:defRPr>
            </a:lvl2pPr>
            <a:lvl3pPr indent="-228600" lvl="2" marL="1371600" algn="l">
              <a:lnSpc>
                <a:spcPct val="90000"/>
              </a:lnSpc>
              <a:spcBef>
                <a:spcPts val="400"/>
              </a:spcBef>
              <a:spcAft>
                <a:spcPts val="0"/>
              </a:spcAft>
              <a:buClr>
                <a:srgbClr val="BFAD91"/>
              </a:buClr>
              <a:buSzPts val="1400"/>
              <a:buNone/>
              <a:defRPr sz="1400">
                <a:solidFill>
                  <a:srgbClr val="BFAD91"/>
                </a:solidFill>
              </a:defRPr>
            </a:lvl3pPr>
            <a:lvl4pPr indent="-228600" lvl="3" marL="1828800" algn="l">
              <a:lnSpc>
                <a:spcPct val="90000"/>
              </a:lnSpc>
              <a:spcBef>
                <a:spcPts val="400"/>
              </a:spcBef>
              <a:spcAft>
                <a:spcPts val="0"/>
              </a:spcAft>
              <a:buClr>
                <a:srgbClr val="BFAD91"/>
              </a:buClr>
              <a:buSzPts val="1200"/>
              <a:buNone/>
              <a:defRPr sz="1200">
                <a:solidFill>
                  <a:srgbClr val="BFAD91"/>
                </a:solidFill>
              </a:defRPr>
            </a:lvl4pPr>
            <a:lvl5pPr indent="-228600" lvl="4" marL="2286000" algn="l">
              <a:lnSpc>
                <a:spcPct val="90000"/>
              </a:lnSpc>
              <a:spcBef>
                <a:spcPts val="400"/>
              </a:spcBef>
              <a:spcAft>
                <a:spcPts val="0"/>
              </a:spcAft>
              <a:buClr>
                <a:srgbClr val="BFAD91"/>
              </a:buClr>
              <a:buSzPts val="1200"/>
              <a:buNone/>
              <a:defRPr sz="1200">
                <a:solidFill>
                  <a:srgbClr val="BFAD91"/>
                </a:solidFill>
              </a:defRPr>
            </a:lvl5pPr>
            <a:lvl6pPr indent="-228600" lvl="5" marL="2743200" algn="l">
              <a:lnSpc>
                <a:spcPct val="90000"/>
              </a:lnSpc>
              <a:spcBef>
                <a:spcPts val="400"/>
              </a:spcBef>
              <a:spcAft>
                <a:spcPts val="0"/>
              </a:spcAft>
              <a:buClr>
                <a:srgbClr val="BFAD91"/>
              </a:buClr>
              <a:buSzPts val="1200"/>
              <a:buNone/>
              <a:defRPr sz="1200">
                <a:solidFill>
                  <a:srgbClr val="BFAD91"/>
                </a:solidFill>
              </a:defRPr>
            </a:lvl6pPr>
            <a:lvl7pPr indent="-228600" lvl="6" marL="3200400" algn="l">
              <a:lnSpc>
                <a:spcPct val="90000"/>
              </a:lnSpc>
              <a:spcBef>
                <a:spcPts val="400"/>
              </a:spcBef>
              <a:spcAft>
                <a:spcPts val="0"/>
              </a:spcAft>
              <a:buClr>
                <a:srgbClr val="BFAD91"/>
              </a:buClr>
              <a:buSzPts val="1200"/>
              <a:buNone/>
              <a:defRPr sz="1200">
                <a:solidFill>
                  <a:srgbClr val="BFAD91"/>
                </a:solidFill>
              </a:defRPr>
            </a:lvl7pPr>
            <a:lvl8pPr indent="-228600" lvl="7" marL="3657600" algn="l">
              <a:lnSpc>
                <a:spcPct val="90000"/>
              </a:lnSpc>
              <a:spcBef>
                <a:spcPts val="400"/>
              </a:spcBef>
              <a:spcAft>
                <a:spcPts val="0"/>
              </a:spcAft>
              <a:buClr>
                <a:srgbClr val="BFAD91"/>
              </a:buClr>
              <a:buSzPts val="1200"/>
              <a:buNone/>
              <a:defRPr sz="1200">
                <a:solidFill>
                  <a:srgbClr val="BFAD91"/>
                </a:solidFill>
              </a:defRPr>
            </a:lvl8pPr>
            <a:lvl9pPr indent="-228600" lvl="8" marL="4114800" algn="l">
              <a:lnSpc>
                <a:spcPct val="90000"/>
              </a:lnSpc>
              <a:spcBef>
                <a:spcPts val="400"/>
              </a:spcBef>
              <a:spcAft>
                <a:spcPts val="0"/>
              </a:spcAft>
              <a:buClr>
                <a:srgbClr val="BFAD91"/>
              </a:buClr>
              <a:buSzPts val="1200"/>
              <a:buNone/>
              <a:defRPr sz="1200">
                <a:solidFill>
                  <a:srgbClr val="BFAD91"/>
                </a:solidFill>
              </a:defRPr>
            </a:lvl9pPr>
          </a:lstStyle>
          <a:p/>
        </p:txBody>
      </p:sp>
      <p:sp>
        <p:nvSpPr>
          <p:cNvPr id="27" name="Google Shape;27;p4"/>
          <p:cNvSpPr txBox="1"/>
          <p:nvPr>
            <p:ph idx="10" type="dt"/>
          </p:nvPr>
        </p:nvSpPr>
        <p:spPr>
          <a:xfrm>
            <a:off x="1095788" y="4767263"/>
            <a:ext cx="1590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Google Shape;28;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 name="Google Shape;29;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1095788" y="258573"/>
            <a:ext cx="7419600" cy="657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 name="Google Shape;32;p5"/>
          <p:cNvSpPr txBox="1"/>
          <p:nvPr>
            <p:ph idx="1" type="body"/>
          </p:nvPr>
        </p:nvSpPr>
        <p:spPr>
          <a:xfrm>
            <a:off x="1107988" y="1369219"/>
            <a:ext cx="36849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Google Shape;33;p5"/>
          <p:cNvSpPr txBox="1"/>
          <p:nvPr>
            <p:ph idx="2" type="body"/>
          </p:nvPr>
        </p:nvSpPr>
        <p:spPr>
          <a:xfrm>
            <a:off x="5008652" y="1369219"/>
            <a:ext cx="350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lt1"/>
              </a:buClr>
              <a:buSzPts val="1400"/>
              <a:buChar char="•"/>
              <a:defRPr/>
            </a:lvl1pPr>
            <a:lvl2pPr indent="-317500" lvl="1" marL="914400" algn="l">
              <a:lnSpc>
                <a:spcPct val="90000"/>
              </a:lnSpc>
              <a:spcBef>
                <a:spcPts val="400"/>
              </a:spcBef>
              <a:spcAft>
                <a:spcPts val="0"/>
              </a:spcAft>
              <a:buClr>
                <a:schemeClr val="lt1"/>
              </a:buClr>
              <a:buSzPts val="1400"/>
              <a:buChar char="•"/>
              <a:defRPr/>
            </a:lvl2pPr>
            <a:lvl3pPr indent="-317500" lvl="2" marL="1371600" algn="l">
              <a:lnSpc>
                <a:spcPct val="90000"/>
              </a:lnSpc>
              <a:spcBef>
                <a:spcPts val="400"/>
              </a:spcBef>
              <a:spcAft>
                <a:spcPts val="0"/>
              </a:spcAft>
              <a:buClr>
                <a:schemeClr val="lt1"/>
              </a:buClr>
              <a:buSzPts val="1400"/>
              <a:buChar char="•"/>
              <a:defRPr/>
            </a:lvl3pPr>
            <a:lvl4pPr indent="-317500" lvl="3" marL="1828800" algn="l">
              <a:lnSpc>
                <a:spcPct val="90000"/>
              </a:lnSpc>
              <a:spcBef>
                <a:spcPts val="400"/>
              </a:spcBef>
              <a:spcAft>
                <a:spcPts val="0"/>
              </a:spcAft>
              <a:buClr>
                <a:schemeClr val="lt1"/>
              </a:buClr>
              <a:buSzPts val="1400"/>
              <a:buChar char="•"/>
              <a:defRPr/>
            </a:lvl4pPr>
            <a:lvl5pPr indent="-317500" lvl="4" marL="2286000" algn="l">
              <a:lnSpc>
                <a:spcPct val="90000"/>
              </a:lnSpc>
              <a:spcBef>
                <a:spcPts val="400"/>
              </a:spcBef>
              <a:spcAft>
                <a:spcPts val="0"/>
              </a:spcAft>
              <a:buClr>
                <a:schemeClr val="lt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 name="Google Shape;34;p5"/>
          <p:cNvSpPr txBox="1"/>
          <p:nvPr>
            <p:ph idx="10" type="dt"/>
          </p:nvPr>
        </p:nvSpPr>
        <p:spPr>
          <a:xfrm>
            <a:off x="1095788" y="4767263"/>
            <a:ext cx="1590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Google Shape;35;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 name="Google Shape;36;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1095788" y="258573"/>
            <a:ext cx="7419600" cy="657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9" name="Google Shape;39;p6"/>
          <p:cNvSpPr txBox="1"/>
          <p:nvPr>
            <p:ph idx="10" type="dt"/>
          </p:nvPr>
        </p:nvSpPr>
        <p:spPr>
          <a:xfrm>
            <a:off x="1095788" y="4767263"/>
            <a:ext cx="1590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0" name="Google Shape;40;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1" name="Google Shape;41;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7"/>
          <p:cNvSpPr txBox="1"/>
          <p:nvPr>
            <p:ph idx="10" type="dt"/>
          </p:nvPr>
        </p:nvSpPr>
        <p:spPr>
          <a:xfrm>
            <a:off x="1095788" y="4767263"/>
            <a:ext cx="1590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Google Shape;44;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5" name="Google Shape;45;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 name="Shape 46"/>
        <p:cNvGrpSpPr/>
        <p:nvPr/>
      </p:nvGrpSpPr>
      <p:grpSpPr>
        <a:xfrm>
          <a:off x="0" y="0"/>
          <a:ext cx="0" cy="0"/>
          <a:chOff x="0" y="0"/>
          <a:chExt cx="0" cy="0"/>
        </a:xfrm>
      </p:grpSpPr>
      <p:sp>
        <p:nvSpPr>
          <p:cNvPr id="47" name="Google Shape;47;p8"/>
          <p:cNvSpPr txBox="1"/>
          <p:nvPr>
            <p:ph type="ctrTitle"/>
          </p:nvPr>
        </p:nvSpPr>
        <p:spPr>
          <a:xfrm>
            <a:off x="311708" y="744575"/>
            <a:ext cx="8520600" cy="2052600"/>
          </a:xfrm>
          <a:prstGeom prst="rect">
            <a:avLst/>
          </a:prstGeom>
        </p:spPr>
        <p:txBody>
          <a:bodyPr anchorCtr="0" anchor="b" bIns="34275" lIns="68575" spcFirstLastPara="1" rIns="68575" wrap="square" tIns="3427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8" name="Google Shape;48;p8"/>
          <p:cNvSpPr txBox="1"/>
          <p:nvPr>
            <p:ph idx="1" type="subTitle"/>
          </p:nvPr>
        </p:nvSpPr>
        <p:spPr>
          <a:xfrm>
            <a:off x="311700" y="2834125"/>
            <a:ext cx="8520600" cy="792600"/>
          </a:xfrm>
          <a:prstGeom prst="rect">
            <a:avLst/>
          </a:prstGeom>
        </p:spPr>
        <p:txBody>
          <a:bodyPr anchorCtr="0" anchor="t" bIns="34275" lIns="68575" spcFirstLastPara="1" rIns="68575" wrap="square" tIns="34275">
            <a:norm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49" name="Google Shape;49;p8"/>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95788" y="258573"/>
            <a:ext cx="7419600" cy="6579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900"/>
              <a:buFont typeface="Cormorant"/>
              <a:buNone/>
              <a:defRPr b="0" i="0" sz="3900" u="none" cap="none" strike="noStrike">
                <a:solidFill>
                  <a:schemeClr val="dk1"/>
                </a:solidFill>
                <a:latin typeface="Cormorant"/>
                <a:ea typeface="Cormorant"/>
                <a:cs typeface="Cormorant"/>
                <a:sym typeface="Cormorant"/>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1095788" y="1051063"/>
            <a:ext cx="7419600" cy="35817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lt1"/>
              </a:buClr>
              <a:buSzPts val="2100"/>
              <a:buFont typeface="Arial"/>
              <a:buChar char="•"/>
              <a:defRPr b="0" i="0" sz="2100" u="none" cap="none" strike="noStrike">
                <a:solidFill>
                  <a:schemeClr val="lt1"/>
                </a:solidFill>
                <a:latin typeface="Nunito Sans"/>
                <a:ea typeface="Nunito Sans"/>
                <a:cs typeface="Nunito Sans"/>
                <a:sym typeface="Nunito Sans"/>
              </a:defRPr>
            </a:lvl1pPr>
            <a:lvl2pPr indent="-342900" lvl="1" marL="914400" marR="0" rtl="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Nunito Sans"/>
                <a:ea typeface="Nunito Sans"/>
                <a:cs typeface="Nunito Sans"/>
                <a:sym typeface="Nunito Sans"/>
              </a:defRPr>
            </a:lvl2pPr>
            <a:lvl3pPr indent="-323850" lvl="2" marL="1371600" marR="0" rtl="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Nunito Sans"/>
                <a:ea typeface="Nunito Sans"/>
                <a:cs typeface="Nunito Sans"/>
                <a:sym typeface="Nunito Sans"/>
              </a:defRPr>
            </a:lvl3pPr>
            <a:lvl4pPr indent="-317500" lvl="3" marL="1828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Nunito Sans"/>
                <a:ea typeface="Nunito Sans"/>
                <a:cs typeface="Nunito Sans"/>
                <a:sym typeface="Nunito Sans"/>
              </a:defRPr>
            </a:lvl4pPr>
            <a:lvl5pPr indent="-317500" lvl="4" marL="22860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Nunito Sans"/>
                <a:ea typeface="Nunito Sans"/>
                <a:cs typeface="Nunito Sans"/>
                <a:sym typeface="Nunito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1095788" y="4767263"/>
            <a:ext cx="15903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BFAD91"/>
                </a:solidFill>
                <a:latin typeface="Cormorant"/>
                <a:ea typeface="Cormorant"/>
                <a:cs typeface="Cormorant"/>
                <a:sym typeface="Cormorant"/>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BFAD91"/>
                </a:solidFill>
                <a:latin typeface="Cormorant"/>
                <a:ea typeface="Cormorant"/>
                <a:cs typeface="Cormorant"/>
                <a:sym typeface="Cormorant"/>
              </a:defRPr>
            </a:lvl1pPr>
            <a:lvl2pPr indent="0" lvl="1" marL="0" marR="0" rtl="0" algn="r">
              <a:spcBef>
                <a:spcPts val="0"/>
              </a:spcBef>
              <a:buNone/>
              <a:defRPr b="0" i="0" sz="900" u="none" cap="none" strike="noStrike">
                <a:solidFill>
                  <a:srgbClr val="BFAD91"/>
                </a:solidFill>
                <a:latin typeface="Cormorant"/>
                <a:ea typeface="Cormorant"/>
                <a:cs typeface="Cormorant"/>
                <a:sym typeface="Cormorant"/>
              </a:defRPr>
            </a:lvl2pPr>
            <a:lvl3pPr indent="0" lvl="2" marL="0" marR="0" rtl="0" algn="r">
              <a:spcBef>
                <a:spcPts val="0"/>
              </a:spcBef>
              <a:buNone/>
              <a:defRPr b="0" i="0" sz="900" u="none" cap="none" strike="noStrike">
                <a:solidFill>
                  <a:srgbClr val="BFAD91"/>
                </a:solidFill>
                <a:latin typeface="Cormorant"/>
                <a:ea typeface="Cormorant"/>
                <a:cs typeface="Cormorant"/>
                <a:sym typeface="Cormorant"/>
              </a:defRPr>
            </a:lvl3pPr>
            <a:lvl4pPr indent="0" lvl="3" marL="0" marR="0" rtl="0" algn="r">
              <a:spcBef>
                <a:spcPts val="0"/>
              </a:spcBef>
              <a:buNone/>
              <a:defRPr b="0" i="0" sz="900" u="none" cap="none" strike="noStrike">
                <a:solidFill>
                  <a:srgbClr val="BFAD91"/>
                </a:solidFill>
                <a:latin typeface="Cormorant"/>
                <a:ea typeface="Cormorant"/>
                <a:cs typeface="Cormorant"/>
                <a:sym typeface="Cormorant"/>
              </a:defRPr>
            </a:lvl4pPr>
            <a:lvl5pPr indent="0" lvl="4" marL="0" marR="0" rtl="0" algn="r">
              <a:spcBef>
                <a:spcPts val="0"/>
              </a:spcBef>
              <a:buNone/>
              <a:defRPr b="0" i="0" sz="900" u="none" cap="none" strike="noStrike">
                <a:solidFill>
                  <a:srgbClr val="BFAD91"/>
                </a:solidFill>
                <a:latin typeface="Cormorant"/>
                <a:ea typeface="Cormorant"/>
                <a:cs typeface="Cormorant"/>
                <a:sym typeface="Cormorant"/>
              </a:defRPr>
            </a:lvl5pPr>
            <a:lvl6pPr indent="0" lvl="5" marL="0" marR="0" rtl="0" algn="r">
              <a:spcBef>
                <a:spcPts val="0"/>
              </a:spcBef>
              <a:buNone/>
              <a:defRPr b="0" i="0" sz="900" u="none" cap="none" strike="noStrike">
                <a:solidFill>
                  <a:srgbClr val="BFAD91"/>
                </a:solidFill>
                <a:latin typeface="Cormorant"/>
                <a:ea typeface="Cormorant"/>
                <a:cs typeface="Cormorant"/>
                <a:sym typeface="Cormorant"/>
              </a:defRPr>
            </a:lvl6pPr>
            <a:lvl7pPr indent="0" lvl="6" marL="0" marR="0" rtl="0" algn="r">
              <a:spcBef>
                <a:spcPts val="0"/>
              </a:spcBef>
              <a:buNone/>
              <a:defRPr b="0" i="0" sz="900" u="none" cap="none" strike="noStrike">
                <a:solidFill>
                  <a:srgbClr val="BFAD91"/>
                </a:solidFill>
                <a:latin typeface="Cormorant"/>
                <a:ea typeface="Cormorant"/>
                <a:cs typeface="Cormorant"/>
                <a:sym typeface="Cormorant"/>
              </a:defRPr>
            </a:lvl7pPr>
            <a:lvl8pPr indent="0" lvl="7" marL="0" marR="0" rtl="0" algn="r">
              <a:spcBef>
                <a:spcPts val="0"/>
              </a:spcBef>
              <a:buNone/>
              <a:defRPr b="0" i="0" sz="900" u="none" cap="none" strike="noStrike">
                <a:solidFill>
                  <a:srgbClr val="BFAD91"/>
                </a:solidFill>
                <a:latin typeface="Cormorant"/>
                <a:ea typeface="Cormorant"/>
                <a:cs typeface="Cormorant"/>
                <a:sym typeface="Cormorant"/>
              </a:defRPr>
            </a:lvl8pPr>
            <a:lvl9pPr indent="0" lvl="8" marL="0" marR="0" rtl="0" algn="r">
              <a:spcBef>
                <a:spcPts val="0"/>
              </a:spcBef>
              <a:buNone/>
              <a:defRPr b="0" i="0" sz="900" u="none" cap="none" strike="noStrike">
                <a:solidFill>
                  <a:srgbClr val="BFAD91"/>
                </a:solidFill>
                <a:latin typeface="Cormorant"/>
                <a:ea typeface="Cormorant"/>
                <a:cs typeface="Cormorant"/>
                <a:sym typeface="Cormorant"/>
              </a:defRPr>
            </a:lvl9pPr>
          </a:lstStyle>
          <a:p>
            <a:pPr indent="0" lvl="0" marL="0" rtl="0" algn="r">
              <a:spcBef>
                <a:spcPts val="0"/>
              </a:spcBef>
              <a:spcAft>
                <a:spcPts val="0"/>
              </a:spcAft>
              <a:buNone/>
            </a:pPr>
            <a:fld id="{00000000-1234-1234-1234-123412341234}" type="slidenum">
              <a:rPr lang="en"/>
              <a:t>‹#›</a:t>
            </a:fld>
            <a:endParaRPr/>
          </a:p>
        </p:txBody>
      </p:sp>
      <p:sp>
        <p:nvSpPr>
          <p:cNvPr id="10" name="Google Shape;10;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BFAD9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researchgate.net/publication/387284657_Generative_AI_in_Higher_Education_Uncertain_Students_Ambiguous_Use_Cases_and_Mercenary_Perspectiv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ai.unc.edu/wp-content/uploads/sites/1362/2025/09/AI_surveys_exec_summary.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9"/>
          <p:cNvSpPr txBox="1"/>
          <p:nvPr>
            <p:ph type="ctrTitle"/>
          </p:nvPr>
        </p:nvSpPr>
        <p:spPr>
          <a:xfrm>
            <a:off x="311708" y="744575"/>
            <a:ext cx="8520600" cy="2052600"/>
          </a:xfrm>
          <a:prstGeom prst="rect">
            <a:avLst/>
          </a:prstGeom>
        </p:spPr>
        <p:txBody>
          <a:bodyPr anchorCtr="0" anchor="b" bIns="34275" lIns="68575" spcFirstLastPara="1" rIns="68575" wrap="square" tIns="34275">
            <a:normAutofit/>
          </a:bodyPr>
          <a:lstStyle/>
          <a:p>
            <a:pPr indent="0" lvl="0" marL="0" rtl="0" algn="ctr">
              <a:spcBef>
                <a:spcPts val="0"/>
              </a:spcBef>
              <a:spcAft>
                <a:spcPts val="0"/>
              </a:spcAft>
              <a:buNone/>
            </a:pPr>
            <a:r>
              <a:rPr lang="en"/>
              <a:t>Analysis Plan</a:t>
            </a:r>
            <a:endParaRPr/>
          </a:p>
        </p:txBody>
      </p:sp>
      <p:sp>
        <p:nvSpPr>
          <p:cNvPr id="55" name="Google Shape;55;p9"/>
          <p:cNvSpPr txBox="1"/>
          <p:nvPr>
            <p:ph idx="1" type="subTitle"/>
          </p:nvPr>
        </p:nvSpPr>
        <p:spPr>
          <a:xfrm>
            <a:off x="311700" y="2834125"/>
            <a:ext cx="8520600" cy="792600"/>
          </a:xfrm>
          <a:prstGeom prst="rect">
            <a:avLst/>
          </a:prstGeom>
        </p:spPr>
        <p:txBody>
          <a:bodyPr anchorCtr="0" anchor="t" bIns="34275" lIns="68575" spcFirstLastPara="1" rIns="68575" wrap="square" tIns="34275">
            <a:normAutofit/>
          </a:bodyPr>
          <a:lstStyle/>
          <a:p>
            <a:pPr indent="0" lvl="0" marL="0" rtl="0" algn="ctr">
              <a:spcBef>
                <a:spcPts val="800"/>
              </a:spcBef>
              <a:spcAft>
                <a:spcPts val="0"/>
              </a:spcAft>
              <a:buNone/>
            </a:pPr>
            <a:r>
              <a:rPr lang="en"/>
              <a:t>AI Survey 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txBox="1"/>
          <p:nvPr>
            <p:ph idx="1" type="body"/>
          </p:nvPr>
        </p:nvSpPr>
        <p:spPr>
          <a:xfrm>
            <a:off x="1095788" y="1051063"/>
            <a:ext cx="7419600" cy="3581700"/>
          </a:xfrm>
          <a:prstGeom prst="rect">
            <a:avLst/>
          </a:prstGeom>
        </p:spPr>
        <p:txBody>
          <a:bodyPr anchorCtr="0" anchor="t" bIns="34275" lIns="68575" spcFirstLastPara="1" rIns="68575" wrap="square" tIns="34275">
            <a:normAutofit lnSpcReduction="10000"/>
          </a:bodyPr>
          <a:lstStyle/>
          <a:p>
            <a:pPr indent="0" lvl="0" marL="0" rtl="0" algn="l">
              <a:spcBef>
                <a:spcPts val="800"/>
              </a:spcBef>
              <a:spcAft>
                <a:spcPts val="0"/>
              </a:spcAft>
              <a:buNone/>
            </a:pPr>
            <a:r>
              <a:rPr lang="en" sz="1200" u="sng"/>
              <a:t>Higher education students’ perceptions of ChatGPT: A global study of early reactions</a:t>
            </a:r>
            <a:endParaRPr sz="1200" u="sng"/>
          </a:p>
          <a:p>
            <a:pPr indent="0" lvl="0" marL="0" rtl="0" algn="l">
              <a:spcBef>
                <a:spcPts val="800"/>
              </a:spcBef>
              <a:spcAft>
                <a:spcPts val="0"/>
              </a:spcAft>
              <a:buNone/>
            </a:pPr>
            <a:r>
              <a:rPr lang="en" sz="1200"/>
              <a:t>This study surveyed 23,218 higher education students from 109 countries and territories about their use and perceptions of ChatGPT in early 2024. It is one of the largest global surveys on this topic to date. Students around the world enrolled in “higher education” over the age of 18 were </a:t>
            </a:r>
            <a:r>
              <a:rPr lang="en" sz="1200"/>
              <a:t>allowed</a:t>
            </a:r>
            <a:r>
              <a:rPr lang="en" sz="1200"/>
              <a:t> to participate. </a:t>
            </a:r>
            <a:endParaRPr sz="1200"/>
          </a:p>
          <a:p>
            <a:pPr indent="0" lvl="0" marL="0" rtl="0" algn="l">
              <a:spcBef>
                <a:spcPts val="800"/>
              </a:spcBef>
              <a:spcAft>
                <a:spcPts val="0"/>
              </a:spcAft>
              <a:buNone/>
            </a:pPr>
            <a:r>
              <a:t/>
            </a:r>
            <a:endParaRPr sz="1200"/>
          </a:p>
          <a:p>
            <a:pPr indent="0" lvl="0" marL="0" rtl="0" algn="l">
              <a:spcBef>
                <a:spcPts val="800"/>
              </a:spcBef>
              <a:spcAft>
                <a:spcPts val="0"/>
              </a:spcAft>
              <a:buNone/>
            </a:pPr>
            <a:r>
              <a:rPr lang="en" sz="1200"/>
              <a:t>Key findings included:</a:t>
            </a:r>
            <a:endParaRPr sz="1200"/>
          </a:p>
          <a:p>
            <a:pPr indent="-304800" lvl="0" marL="457200" rtl="0" algn="l">
              <a:spcBef>
                <a:spcPts val="800"/>
              </a:spcBef>
              <a:spcAft>
                <a:spcPts val="0"/>
              </a:spcAft>
              <a:buSzPts val="1200"/>
              <a:buChar char="-"/>
            </a:pPr>
            <a:r>
              <a:rPr lang="en" sz="1200"/>
              <a:t>Students most often used ChatGPT for brainstorming, summarizing texts, and finding research articles.</a:t>
            </a:r>
            <a:endParaRPr sz="1200"/>
          </a:p>
          <a:p>
            <a:pPr indent="-304800" lvl="0" marL="457200" rtl="0" algn="l">
              <a:spcBef>
                <a:spcPts val="0"/>
              </a:spcBef>
              <a:spcAft>
                <a:spcPts val="0"/>
              </a:spcAft>
              <a:buSzPts val="1200"/>
              <a:buChar char="-"/>
            </a:pPr>
            <a:r>
              <a:rPr lang="en" sz="1200"/>
              <a:t>They found it helpful for simplifying complex information, though less reliable for core classroom learning.</a:t>
            </a:r>
            <a:endParaRPr sz="1200"/>
          </a:p>
          <a:p>
            <a:pPr indent="-304800" lvl="0" marL="457200" rtl="0" algn="l">
              <a:spcBef>
                <a:spcPts val="0"/>
              </a:spcBef>
              <a:spcAft>
                <a:spcPts val="0"/>
              </a:spcAft>
              <a:buSzPts val="1200"/>
              <a:buChar char="-"/>
            </a:pPr>
            <a:r>
              <a:rPr lang="en" sz="1200"/>
              <a:t>Many students felt there should be AI regulations to address concerns about cheating, plagiarism, and social isolation.</a:t>
            </a:r>
            <a:endParaRPr sz="1200"/>
          </a:p>
          <a:p>
            <a:pPr indent="-304800" lvl="0" marL="457200" rtl="0" algn="l">
              <a:spcBef>
                <a:spcPts val="0"/>
              </a:spcBef>
              <a:spcAft>
                <a:spcPts val="0"/>
              </a:spcAft>
              <a:buSzPts val="1200"/>
              <a:buChar char="-"/>
            </a:pPr>
            <a:r>
              <a:rPr lang="en" sz="1200"/>
              <a:t>Students believed ChatGPT could enhance study efficiency, access to knowledge, and grades, as well as boost digital and AI-related skills.</a:t>
            </a:r>
            <a:endParaRPr sz="1200"/>
          </a:p>
          <a:p>
            <a:pPr indent="-304800" lvl="0" marL="457200" rtl="0" algn="l">
              <a:spcBef>
                <a:spcPts val="0"/>
              </a:spcBef>
              <a:spcAft>
                <a:spcPts val="0"/>
              </a:spcAft>
              <a:buSzPts val="1200"/>
              <a:buChar char="-"/>
            </a:pPr>
            <a:r>
              <a:rPr lang="en" sz="1200"/>
              <a:t>Overall emotional responses to using ChatGPT were mostly positive (e.g., curiosity, calmness).</a:t>
            </a:r>
            <a:endParaRPr sz="1200"/>
          </a:p>
          <a:p>
            <a:pPr indent="0" lvl="0" marL="0" rtl="0" algn="l">
              <a:spcBef>
                <a:spcPts val="800"/>
              </a:spcBef>
              <a:spcAft>
                <a:spcPts val="0"/>
              </a:spcAft>
              <a:buNone/>
            </a:pPr>
            <a:r>
              <a:t/>
            </a:r>
            <a:endParaRPr sz="1200"/>
          </a:p>
          <a:p>
            <a:pPr indent="0" lvl="0" marL="0" rtl="0" algn="l">
              <a:spcBef>
                <a:spcPts val="800"/>
              </a:spcBef>
              <a:spcAft>
                <a:spcPts val="0"/>
              </a:spcAft>
              <a:buNone/>
            </a:pPr>
            <a:r>
              <a:rPr lang="en" sz="1200"/>
              <a:t>What didn’t work:</a:t>
            </a:r>
            <a:endParaRPr sz="1200"/>
          </a:p>
          <a:p>
            <a:pPr indent="-304800" lvl="0" marL="457200" rtl="0" algn="l">
              <a:spcBef>
                <a:spcPts val="800"/>
              </a:spcBef>
              <a:spcAft>
                <a:spcPts val="0"/>
              </a:spcAft>
              <a:buSzPts val="1200"/>
              <a:buChar char="-"/>
            </a:pPr>
            <a:r>
              <a:rPr lang="en" sz="1200"/>
              <a:t>Concerns about students honesty in their responses</a:t>
            </a:r>
            <a:endParaRPr sz="1200"/>
          </a:p>
          <a:p>
            <a:pPr indent="-304800" lvl="0" marL="457200" rtl="0" algn="l">
              <a:spcBef>
                <a:spcPts val="0"/>
              </a:spcBef>
              <a:spcAft>
                <a:spcPts val="0"/>
              </a:spcAft>
              <a:buSzPts val="1200"/>
              <a:buChar char="-"/>
            </a:pPr>
            <a:r>
              <a:rPr lang="en" sz="1200"/>
              <a:t>No analysis or data on how learning has been impacted by GenAI</a:t>
            </a:r>
            <a:endParaRPr sz="1200"/>
          </a:p>
        </p:txBody>
      </p:sp>
      <p:sp>
        <p:nvSpPr>
          <p:cNvPr id="61" name="Google Shape;61;p10"/>
          <p:cNvSpPr txBox="1"/>
          <p:nvPr>
            <p:ph type="title"/>
          </p:nvPr>
        </p:nvSpPr>
        <p:spPr>
          <a:xfrm>
            <a:off x="1095788" y="258573"/>
            <a:ext cx="7419600" cy="657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Similar Study 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1"/>
          <p:cNvSpPr txBox="1"/>
          <p:nvPr>
            <p:ph type="title"/>
          </p:nvPr>
        </p:nvSpPr>
        <p:spPr>
          <a:xfrm>
            <a:off x="1095788" y="258573"/>
            <a:ext cx="7419600" cy="657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Similar Study 2</a:t>
            </a:r>
            <a:endParaRPr/>
          </a:p>
        </p:txBody>
      </p:sp>
      <p:sp>
        <p:nvSpPr>
          <p:cNvPr id="67" name="Google Shape;67;p11"/>
          <p:cNvSpPr txBox="1"/>
          <p:nvPr>
            <p:ph idx="1" type="body"/>
          </p:nvPr>
        </p:nvSpPr>
        <p:spPr>
          <a:xfrm>
            <a:off x="1095800" y="1051077"/>
            <a:ext cx="7419600" cy="4092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500" u="sng">
                <a:solidFill>
                  <a:schemeClr val="hlink"/>
                </a:solidFill>
                <a:hlinkClick r:id="rId3"/>
              </a:rPr>
              <a:t>Generative AI in Higher Education: Uncertain Students, Ambiguous Use Cases, and Mercenary Perspectives</a:t>
            </a:r>
            <a:endParaRPr sz="1500"/>
          </a:p>
          <a:p>
            <a:pPr indent="-323850" lvl="0" marL="457200" rtl="0" algn="l">
              <a:spcBef>
                <a:spcPts val="800"/>
              </a:spcBef>
              <a:spcAft>
                <a:spcPts val="0"/>
              </a:spcAft>
              <a:buSzPts val="1500"/>
              <a:buChar char="-"/>
            </a:pPr>
            <a:r>
              <a:rPr b="1" lang="en" sz="1500"/>
              <a:t>Topic: </a:t>
            </a:r>
            <a:r>
              <a:rPr lang="en" sz="1500"/>
              <a:t>The study describes undergraduate use of generative AI amid inconsistent policies and mixed institutional messaging. </a:t>
            </a:r>
            <a:endParaRPr sz="1500"/>
          </a:p>
          <a:p>
            <a:pPr indent="-323850" lvl="0" marL="457200" rtl="0" algn="l">
              <a:spcBef>
                <a:spcPts val="0"/>
              </a:spcBef>
              <a:spcAft>
                <a:spcPts val="0"/>
              </a:spcAft>
              <a:buSzPts val="1500"/>
              <a:buChar char="-"/>
            </a:pPr>
            <a:r>
              <a:rPr b="1" lang="en" sz="1500"/>
              <a:t>Method: </a:t>
            </a:r>
            <a:r>
              <a:rPr lang="en" sz="1500"/>
              <a:t>It reports survey findings from 733 undergraduates. </a:t>
            </a:r>
            <a:endParaRPr sz="1500"/>
          </a:p>
          <a:p>
            <a:pPr indent="-323850" lvl="0" marL="457200" rtl="0" algn="l">
              <a:spcBef>
                <a:spcPts val="0"/>
              </a:spcBef>
              <a:spcAft>
                <a:spcPts val="0"/>
              </a:spcAft>
              <a:buSzPts val="1500"/>
              <a:buChar char="-"/>
            </a:pPr>
            <a:r>
              <a:rPr b="1" lang="en" sz="1500"/>
              <a:t>Student attitudes: </a:t>
            </a:r>
            <a:r>
              <a:rPr lang="en" sz="1500"/>
              <a:t>Students generally showed mixed familiarity and more nervousness than excitement about AI. </a:t>
            </a:r>
            <a:endParaRPr sz="1500"/>
          </a:p>
          <a:p>
            <a:pPr indent="-323850" lvl="0" marL="457200" rtl="0" algn="l">
              <a:spcBef>
                <a:spcPts val="0"/>
              </a:spcBef>
              <a:spcAft>
                <a:spcPts val="0"/>
              </a:spcAft>
              <a:buSzPts val="1500"/>
              <a:buChar char="-"/>
            </a:pPr>
            <a:r>
              <a:rPr b="1" lang="en" sz="1500"/>
              <a:t>Use patterns:</a:t>
            </a:r>
            <a:r>
              <a:rPr lang="en" sz="1500"/>
              <a:t> 41% reported AI use that was explicitly banned, while 59% reported ambiguous use cases. Peer perceptions: Students tended to overestimate peer cheating, and this was linked to their own cheating behavior. </a:t>
            </a:r>
            <a:endParaRPr sz="1500"/>
          </a:p>
          <a:p>
            <a:pPr indent="-323850" lvl="0" marL="457200" rtl="0" algn="l">
              <a:spcBef>
                <a:spcPts val="0"/>
              </a:spcBef>
              <a:spcAft>
                <a:spcPts val="0"/>
              </a:spcAft>
              <a:buSzPts val="1500"/>
              <a:buChar char="-"/>
            </a:pPr>
            <a:r>
              <a:rPr b="1" lang="en" sz="1500"/>
              <a:t>Other cheating predictors: </a:t>
            </a:r>
            <a:r>
              <a:rPr lang="en" sz="1500"/>
              <a:t>Greater AI experience and AI excitement also predicted self-reported cheating. </a:t>
            </a:r>
            <a:endParaRPr sz="1500"/>
          </a:p>
          <a:p>
            <a:pPr indent="-323850" lvl="0" marL="457200" rtl="0" algn="l">
              <a:spcBef>
                <a:spcPts val="0"/>
              </a:spcBef>
              <a:spcAft>
                <a:spcPts val="0"/>
              </a:spcAft>
              <a:buSzPts val="1500"/>
              <a:buChar char="-"/>
            </a:pPr>
            <a:r>
              <a:rPr b="1" lang="en" sz="1500"/>
              <a:t>False accusations: </a:t>
            </a:r>
            <a:r>
              <a:rPr lang="en" sz="1500"/>
              <a:t>11% reported false accusations of AI misuse; first-generation students may have been affected more. </a:t>
            </a:r>
            <a:endParaRPr sz="1500"/>
          </a:p>
          <a:p>
            <a:pPr indent="-323850" lvl="0" marL="457200" rtl="0" algn="l">
              <a:spcBef>
                <a:spcPts val="0"/>
              </a:spcBef>
              <a:spcAft>
                <a:spcPts val="0"/>
              </a:spcAft>
              <a:buSzPts val="1500"/>
              <a:buChar char="-"/>
            </a:pPr>
            <a:r>
              <a:rPr b="1" lang="en" sz="1500"/>
              <a:t>Group differences: </a:t>
            </a:r>
            <a:r>
              <a:rPr lang="en" sz="1500"/>
              <a:t>Men reported higher AI involvement than women. </a:t>
            </a:r>
            <a:endParaRPr sz="1500"/>
          </a:p>
          <a:p>
            <a:pPr indent="-323850" lvl="0" marL="457200" rtl="0" algn="l">
              <a:spcBef>
                <a:spcPts val="0"/>
              </a:spcBef>
              <a:spcAft>
                <a:spcPts val="0"/>
              </a:spcAft>
              <a:buSzPts val="1500"/>
              <a:buChar char="-"/>
            </a:pPr>
            <a:r>
              <a:rPr b="1" lang="en" sz="1500"/>
              <a:t>Implication: </a:t>
            </a:r>
            <a:r>
              <a:rPr lang="en" sz="1500"/>
              <a:t>The study argues for clearer policy transparency and more research on human–AI collaboration for genuine learning.</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2"/>
          <p:cNvSpPr txBox="1"/>
          <p:nvPr>
            <p:ph type="title"/>
          </p:nvPr>
        </p:nvSpPr>
        <p:spPr>
          <a:xfrm>
            <a:off x="1095788" y="258573"/>
            <a:ext cx="7419600" cy="657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Meeting with Professor McNeilly</a:t>
            </a:r>
            <a:endParaRPr/>
          </a:p>
        </p:txBody>
      </p:sp>
      <p:sp>
        <p:nvSpPr>
          <p:cNvPr id="73" name="Google Shape;73;p12"/>
          <p:cNvSpPr txBox="1"/>
          <p:nvPr>
            <p:ph idx="1" type="body"/>
          </p:nvPr>
        </p:nvSpPr>
        <p:spPr>
          <a:xfrm>
            <a:off x="1095788" y="1051063"/>
            <a:ext cx="7419600" cy="3581700"/>
          </a:xfrm>
          <a:prstGeom prst="rect">
            <a:avLst/>
          </a:prstGeom>
        </p:spPr>
        <p:txBody>
          <a:bodyPr anchorCtr="0" anchor="t" bIns="34275" lIns="68575" spcFirstLastPara="1" rIns="68575" wrap="square" tIns="34275">
            <a:normAutofit lnSpcReduction="20000"/>
          </a:bodyPr>
          <a:lstStyle/>
          <a:p>
            <a:pPr indent="0" lvl="0" marL="0" rtl="0" algn="l">
              <a:spcBef>
                <a:spcPts val="800"/>
              </a:spcBef>
              <a:spcAft>
                <a:spcPts val="0"/>
              </a:spcAft>
              <a:buNone/>
            </a:pPr>
            <a:r>
              <a:rPr lang="en"/>
              <a:t>UNC AI Initiatives/ Findings: </a:t>
            </a:r>
            <a:endParaRPr/>
          </a:p>
          <a:p>
            <a:pPr indent="-323850" lvl="0" marL="457200" rtl="0" algn="l">
              <a:spcBef>
                <a:spcPts val="800"/>
              </a:spcBef>
              <a:spcAft>
                <a:spcPts val="0"/>
              </a:spcAft>
              <a:buSzPts val="1500"/>
              <a:buChar char="-"/>
            </a:pPr>
            <a:r>
              <a:rPr lang="en" sz="1500"/>
              <a:t>UNC conducted large-scale AI surveys — exec summary available at </a:t>
            </a:r>
            <a:r>
              <a:rPr lang="en" sz="1500" u="sng">
                <a:solidFill>
                  <a:schemeClr val="hlink"/>
                </a:solidFill>
                <a:hlinkClick r:id="rId3"/>
              </a:rPr>
              <a:t>https://ai.unc.edu/wp-content/uploads/sites/1362/2025/09/AI_surveys_exec_summary.pdf</a:t>
            </a:r>
            <a:endParaRPr sz="1500"/>
          </a:p>
          <a:p>
            <a:pPr indent="-323850" lvl="0" marL="457200" rtl="0" algn="l">
              <a:spcBef>
                <a:spcPts val="0"/>
              </a:spcBef>
              <a:spcAft>
                <a:spcPts val="0"/>
              </a:spcAft>
              <a:buSzPts val="1500"/>
              <a:buChar char="-"/>
            </a:pPr>
            <a:r>
              <a:rPr lang="en" sz="1500"/>
              <a:t>Appointed a chief AI officer within the last few months</a:t>
            </a:r>
            <a:endParaRPr sz="1500"/>
          </a:p>
          <a:p>
            <a:pPr indent="-323850" lvl="0" marL="457200" rtl="0" algn="l">
              <a:spcBef>
                <a:spcPts val="0"/>
              </a:spcBef>
              <a:spcAft>
                <a:spcPts val="0"/>
              </a:spcAft>
              <a:buSzPts val="1500"/>
              <a:buChar char="-"/>
            </a:pPr>
            <a:r>
              <a:rPr lang="en" sz="1500"/>
              <a:t>AI Acceleration Program funds faculty-led projects integrating AI into teaching and research</a:t>
            </a:r>
            <a:endParaRPr sz="1500"/>
          </a:p>
          <a:p>
            <a:pPr indent="-323850" lvl="0" marL="457200" rtl="0" algn="l">
              <a:spcBef>
                <a:spcPts val="0"/>
              </a:spcBef>
              <a:spcAft>
                <a:spcPts val="0"/>
              </a:spcAft>
              <a:buSzPts val="1500"/>
              <a:buChar char="-"/>
            </a:pPr>
            <a:r>
              <a:rPr lang="en" sz="1500"/>
              <a:t>Balancing academic integrity and critical thinking with workforce demands for AI-proficient graduates remains an unsolved challenge</a:t>
            </a:r>
            <a:endParaRPr sz="1500"/>
          </a:p>
          <a:p>
            <a:pPr indent="0" lvl="0" marL="0" rtl="0" algn="l">
              <a:spcBef>
                <a:spcPts val="800"/>
              </a:spcBef>
              <a:spcAft>
                <a:spcPts val="0"/>
              </a:spcAft>
              <a:buNone/>
            </a:pPr>
            <a:r>
              <a:t/>
            </a:r>
            <a:endParaRPr/>
          </a:p>
          <a:p>
            <a:pPr indent="0" lvl="0" marL="0" rtl="0" algn="l">
              <a:spcBef>
                <a:spcPts val="800"/>
              </a:spcBef>
              <a:spcAft>
                <a:spcPts val="0"/>
              </a:spcAft>
              <a:buNone/>
            </a:pPr>
            <a:r>
              <a:rPr lang="en"/>
              <a:t>Recommended Wake Forest Framework:</a:t>
            </a:r>
            <a:endParaRPr/>
          </a:p>
          <a:p>
            <a:pPr indent="-323850" lvl="0" marL="457200" rtl="0" algn="l">
              <a:spcBef>
                <a:spcPts val="800"/>
              </a:spcBef>
              <a:spcAft>
                <a:spcPts val="0"/>
              </a:spcAft>
              <a:buSzPts val="1500"/>
              <a:buChar char="-"/>
            </a:pPr>
            <a:r>
              <a:rPr lang="en" sz="1500"/>
              <a:t>A foundational AI literacy course applicable to all students</a:t>
            </a:r>
            <a:endParaRPr sz="1500"/>
          </a:p>
          <a:p>
            <a:pPr indent="-323850" lvl="0" marL="457200" rtl="0" algn="l">
              <a:spcBef>
                <a:spcPts val="0"/>
              </a:spcBef>
              <a:spcAft>
                <a:spcPts val="0"/>
              </a:spcAft>
              <a:buSzPts val="1500"/>
              <a:buChar char="-"/>
            </a:pPr>
            <a:r>
              <a:rPr lang="en" sz="1500"/>
              <a:t>A discipline-specific course focused on professional AI application within each major</a:t>
            </a:r>
            <a:endParaRPr sz="1500"/>
          </a:p>
          <a:p>
            <a:pPr indent="-323850" lvl="0" marL="457200" rtl="0" algn="l">
              <a:spcBef>
                <a:spcPts val="0"/>
              </a:spcBef>
              <a:spcAft>
                <a:spcPts val="0"/>
              </a:spcAft>
              <a:buSzPts val="1500"/>
              <a:buChar char="-"/>
            </a:pPr>
            <a:r>
              <a:rPr lang="en" sz="1500"/>
              <a:t>Appoint a Chief AI Officer to oversee Wake Forest Business School AI strategy (University-wide policy is impossible to standardize)</a:t>
            </a:r>
            <a:endParaRPr sz="1500"/>
          </a:p>
          <a:p>
            <a:pPr indent="0" lvl="0" marL="457200" rtl="0" algn="l">
              <a:spcBef>
                <a:spcPts val="800"/>
              </a:spcBef>
              <a:spcAft>
                <a:spcPts val="0"/>
              </a:spcAft>
              <a:buNone/>
            </a:pPr>
            <a:r>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
      <a:dk1>
        <a:srgbClr val="A38342"/>
      </a:dk1>
      <a:lt1>
        <a:srgbClr val="FFFFFF"/>
      </a:lt1>
      <a:dk2>
        <a:srgbClr val="000000"/>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