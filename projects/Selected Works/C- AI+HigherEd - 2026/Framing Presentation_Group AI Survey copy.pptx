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ormorant" pitchFamily="2" charset="77"/>
      <p:regular r:id="rId13"/>
      <p:bold r:id="rId14"/>
      <p:italic r:id="rId15"/>
      <p:boldItalic r:id="rId16"/>
    </p:embeddedFont>
    <p:embeddedFont>
      <p:font typeface="Nunito Sans" pitchFamily="2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Bjorn</a:t>
            </a: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Bjorn</a:t>
            </a: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26f7036c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Zhanyi</a:t>
            </a:r>
            <a:endParaRPr/>
          </a:p>
        </p:txBody>
      </p:sp>
      <p:sp>
        <p:nvSpPr>
          <p:cNvPr id="63" name="Google Shape;63;g3c26f7036c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26f7036c9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26f7036c9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26f7036c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26f7036c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Kevin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26f7036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26f7036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Rhyan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26f7036c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26f7036c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Bjorn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26f7036c9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26f7036c9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26f7036c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26f7036c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Kevin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26f7036c9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26f7036c9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395870" y="154883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moran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395870" y="4646428"/>
            <a:ext cx="91440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2395870" y="6356349"/>
            <a:ext cx="2120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624227" y="635634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847034" y="6356348"/>
            <a:ext cx="26928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2395870" y="5091682"/>
            <a:ext cx="91440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morant"/>
              <a:buNone/>
              <a:defRPr sz="1800">
                <a:solidFill>
                  <a:schemeClr val="dk1"/>
                </a:solidFill>
                <a:latin typeface="Cormorant"/>
                <a:ea typeface="Cormorant"/>
                <a:cs typeface="Cormorant"/>
                <a:sym typeface="Cormoran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461050" y="344764"/>
            <a:ext cx="9892748" cy="87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1461050" y="1401417"/>
            <a:ext cx="9892749" cy="477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1461050" y="6356350"/>
            <a:ext cx="2120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1463560" y="1736726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moran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146356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AD91"/>
              </a:buClr>
              <a:buSzPts val="2400"/>
              <a:buNone/>
              <a:defRPr sz="2400">
                <a:solidFill>
                  <a:srgbClr val="BFAD9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AD91"/>
              </a:buClr>
              <a:buSzPts val="2000"/>
              <a:buNone/>
              <a:defRPr sz="2000">
                <a:solidFill>
                  <a:srgbClr val="BFAD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AD91"/>
              </a:buClr>
              <a:buSzPts val="1800"/>
              <a:buNone/>
              <a:defRPr sz="1800">
                <a:solidFill>
                  <a:srgbClr val="BFAD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AD91"/>
              </a:buClr>
              <a:buSzPts val="1600"/>
              <a:buNone/>
              <a:defRPr sz="1600">
                <a:solidFill>
                  <a:srgbClr val="BFAD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AD91"/>
              </a:buClr>
              <a:buSzPts val="1600"/>
              <a:buNone/>
              <a:defRPr sz="1600">
                <a:solidFill>
                  <a:srgbClr val="BFAD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AD91"/>
              </a:buClr>
              <a:buSzPts val="1600"/>
              <a:buNone/>
              <a:defRPr sz="1600">
                <a:solidFill>
                  <a:srgbClr val="BFAD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AD91"/>
              </a:buClr>
              <a:buSzPts val="1600"/>
              <a:buNone/>
              <a:defRPr sz="1600">
                <a:solidFill>
                  <a:srgbClr val="BFAD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AD91"/>
              </a:buClr>
              <a:buSzPts val="1600"/>
              <a:buNone/>
              <a:defRPr sz="1600">
                <a:solidFill>
                  <a:srgbClr val="BFAD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AD91"/>
              </a:buClr>
              <a:buSzPts val="1600"/>
              <a:buNone/>
              <a:defRPr sz="1600">
                <a:solidFill>
                  <a:srgbClr val="BFAD9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1461050" y="6356350"/>
            <a:ext cx="2120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1461050" y="344764"/>
            <a:ext cx="9892748" cy="87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1477317" y="1825625"/>
            <a:ext cx="491320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6678202" y="1825625"/>
            <a:ext cx="467559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1461050" y="6356350"/>
            <a:ext cx="2120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1461050" y="344764"/>
            <a:ext cx="9892748" cy="87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1461050" y="6356350"/>
            <a:ext cx="2120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1461050" y="6356350"/>
            <a:ext cx="2120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61050" y="344764"/>
            <a:ext cx="9892748" cy="87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rmorant"/>
              <a:buNone/>
              <a:defRPr sz="5200" b="0" i="0" u="none" strike="noStrike" cap="none">
                <a:solidFill>
                  <a:schemeClr val="dk1"/>
                </a:solidFill>
                <a:latin typeface="Cormorant"/>
                <a:ea typeface="Cormorant"/>
                <a:cs typeface="Cormorant"/>
                <a:sym typeface="Cormoran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61050" y="1401417"/>
            <a:ext cx="9892749" cy="477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461050" y="6356350"/>
            <a:ext cx="2120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BFAD91"/>
                </a:solidFill>
                <a:latin typeface="Cormorant"/>
                <a:ea typeface="Cormorant"/>
                <a:cs typeface="Cormorant"/>
                <a:sym typeface="Cormoran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FAD91"/>
                </a:solidFill>
                <a:latin typeface="Cormorant"/>
                <a:ea typeface="Cormorant"/>
                <a:cs typeface="Cormorant"/>
                <a:sym typeface="Cormoran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FAD91"/>
                </a:solidFill>
                <a:latin typeface="Cormorant"/>
                <a:ea typeface="Cormorant"/>
                <a:cs typeface="Cormorant"/>
                <a:sym typeface="Cormoran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FAD91"/>
                </a:solidFill>
                <a:latin typeface="Cormorant"/>
                <a:ea typeface="Cormorant"/>
                <a:cs typeface="Cormorant"/>
                <a:sym typeface="Cormoran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FAD91"/>
                </a:solidFill>
                <a:latin typeface="Cormorant"/>
                <a:ea typeface="Cormorant"/>
                <a:cs typeface="Cormorant"/>
                <a:sym typeface="Cormoran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FAD91"/>
                </a:solidFill>
                <a:latin typeface="Cormorant"/>
                <a:ea typeface="Cormorant"/>
                <a:cs typeface="Cormorant"/>
                <a:sym typeface="Cormoran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FAD91"/>
                </a:solidFill>
                <a:latin typeface="Cormorant"/>
                <a:ea typeface="Cormorant"/>
                <a:cs typeface="Cormorant"/>
                <a:sym typeface="Cormoran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FAD91"/>
                </a:solidFill>
                <a:latin typeface="Cormorant"/>
                <a:ea typeface="Cormorant"/>
                <a:cs typeface="Cormorant"/>
                <a:sym typeface="Cormoran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FAD91"/>
                </a:solidFill>
                <a:latin typeface="Cormorant"/>
                <a:ea typeface="Cormorant"/>
                <a:cs typeface="Cormorant"/>
                <a:sym typeface="Cormoran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BFAD91"/>
                </a:solidFill>
                <a:latin typeface="Cormorant"/>
                <a:ea typeface="Cormorant"/>
                <a:cs typeface="Cormorant"/>
                <a:sym typeface="Cormor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BFAD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programs.com/resources/students-using-ai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ctrTitle"/>
          </p:nvPr>
        </p:nvSpPr>
        <p:spPr>
          <a:xfrm>
            <a:off x="2395870" y="154883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morant"/>
              <a:buNone/>
            </a:pPr>
            <a:r>
              <a:rPr lang="en-US"/>
              <a:t>AI Survey Team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ubTitle" idx="1"/>
          </p:nvPr>
        </p:nvSpPr>
        <p:spPr>
          <a:xfrm>
            <a:off x="2395870" y="4646428"/>
            <a:ext cx="91440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000"/>
              <a:t>Framing Presentation</a:t>
            </a:r>
            <a:endParaRPr sz="2000"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2395870" y="5091682"/>
            <a:ext cx="91440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morant"/>
              <a:buNone/>
            </a:pPr>
            <a:r>
              <a:rPr lang="en-US"/>
              <a:t>Bjorn Sjogren, Kevin Miller, Rhyan Luther, Zhanyi Qi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1461050" y="344764"/>
            <a:ext cx="9892748" cy="87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rmorant"/>
              <a:buNone/>
            </a:pPr>
            <a:r>
              <a:rPr lang="en-US"/>
              <a:t>Issue</a:t>
            </a:r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1461050" y="1401425"/>
            <a:ext cx="6278400" cy="47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Tension between high rates of student AI use and inconsistent institutional policy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2286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Difficult to enforce rules on AI without knowing how, why, and where students are using it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2286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Teachers largely believe that being able to work with AI is important, but don’t want it to entirely replace coursework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/>
          <p:nvPr/>
        </p:nvSpPr>
        <p:spPr>
          <a:xfrm>
            <a:off x="7830300" y="5004650"/>
            <a:ext cx="42582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latin typeface="Nunito Sans"/>
                <a:ea typeface="Nunito Sans"/>
                <a:cs typeface="Nunito Sans"/>
                <a:sym typeface="Nunito Sans"/>
                <a:hlinkClick r:id="rId4"/>
              </a:rPr>
              <a:t>https://programs.com/resources/students-using-ai/</a:t>
            </a:r>
            <a:endParaRPr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60" name="Google Shape;60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5525" y="1853342"/>
            <a:ext cx="4147748" cy="3151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1461050" y="344764"/>
            <a:ext cx="98928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rmorant"/>
              <a:buNone/>
            </a:pPr>
            <a:r>
              <a:rPr lang="en-US"/>
              <a:t>Framing Questions</a:t>
            </a: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1461050" y="1221967"/>
            <a:ext cx="9892800" cy="47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Wake Forest has collected data about how students are using AI but do not currently have an understanding of: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685800" lvl="1" indent="-234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How students are actually using AI?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1143000" lvl="2" indent="-234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900"/>
              <a:buFont typeface="Arial"/>
              <a:buChar char="•"/>
            </a:pPr>
            <a:r>
              <a:rPr lang="en-US" sz="1900" b="1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What is the overall structure of GenAI use frequency? (And its potential interaction with schools and majors - Q2/Q15/Q16</a:t>
            </a:r>
            <a:endParaRPr sz="1900" b="1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34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What students believe AI’s role should be in higher education?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1143000" lvl="2" indent="-234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900"/>
              <a:buFont typeface="Arial"/>
              <a:buChar char="•"/>
            </a:pPr>
            <a:r>
              <a:rPr lang="en-US" sz="1900" b="1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How many belongs to the contradictory group characterized by both high self-efficacy and high risk perception? Low efficacy low risk perception? What kind of support do each group need? - Q9/Q10/Q14/Q12/Q24</a:t>
            </a:r>
            <a:endParaRPr sz="1900" b="1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34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 b="1">
                <a:latin typeface="Arial"/>
                <a:ea typeface="Arial"/>
                <a:cs typeface="Arial"/>
                <a:sym typeface="Arial"/>
              </a:rPr>
              <a:t>How AI usage and attitudes differ across groups on campus (ex: undergraduate vs graduate, school of business vs non school of business)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1143000" lvl="2" indent="-234950" algn="l" rtl="0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900"/>
              <a:buChar char="•"/>
            </a:pPr>
            <a:r>
              <a:rPr lang="en-US" sz="1900" b="1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Do students systematically overestimate/underestimate their peers' usage (normative misperception)? How does this relate to their own usage intensity? - Q2/Q26/Q28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chemeClr val="dk2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1461050" y="1401417"/>
            <a:ext cx="9892800" cy="47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1" title="Screenshot 2026-02-01 at 00.22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000" y="512975"/>
            <a:ext cx="9992890" cy="583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1461050" y="1401417"/>
            <a:ext cx="9892800" cy="47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457200" lvl="0" indent="-367270" algn="l" rtl="0">
              <a:spcBef>
                <a:spcPts val="1000"/>
              </a:spcBef>
              <a:spcAft>
                <a:spcPts val="0"/>
              </a:spcAft>
              <a:buSzPts val="2184"/>
              <a:buChar char="•"/>
            </a:pPr>
            <a:r>
              <a:rPr lang="en-US" sz="2183" b="1"/>
              <a:t>AI tools consumer continue to evolve faster than university policies can adapt</a:t>
            </a:r>
            <a:endParaRPr sz="2183" b="1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183" b="1"/>
          </a:p>
          <a:p>
            <a:pPr marL="457200" lvl="0" indent="-367270" algn="l" rtl="0">
              <a:spcBef>
                <a:spcPts val="1000"/>
              </a:spcBef>
              <a:spcAft>
                <a:spcPts val="0"/>
              </a:spcAft>
              <a:buSzPts val="2184"/>
              <a:buChar char="•"/>
            </a:pPr>
            <a:r>
              <a:rPr lang="en-US" sz="2183" b="1"/>
              <a:t>Faculty may view GenAI through the lens of academic dishonesty while professionals emphasize the importance of AI proficiency for students entering the workforce</a:t>
            </a:r>
            <a:endParaRPr sz="2183" b="1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183" b="1"/>
          </a:p>
          <a:p>
            <a:pPr marL="457200" marR="0" lvl="0" indent="-3672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4"/>
              <a:buChar char="•"/>
            </a:pPr>
            <a:r>
              <a:rPr lang="en-US" sz="2183" b="1"/>
              <a:t>Existing survey data has not been translated into actionable insights </a:t>
            </a:r>
            <a:endParaRPr sz="2183" b="1"/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183" b="1"/>
          </a:p>
          <a:p>
            <a:pPr marL="457200" marR="0" lvl="0" indent="-3672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4"/>
              <a:buChar char="•"/>
            </a:pPr>
            <a:r>
              <a:rPr lang="en-US" sz="2183" b="1"/>
              <a:t>WFU does not yet possess benchmarking context or know what “normal” AI usage looks like at other peer universities</a:t>
            </a:r>
            <a:endParaRPr sz="2183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183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183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1461050" y="344764"/>
            <a:ext cx="9892800" cy="87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Causes of the Problem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1461050" y="344764"/>
            <a:ext cx="9892800" cy="87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Value of the Problem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1461050" y="1401417"/>
            <a:ext cx="9892800" cy="47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5125" algn="l" rtl="0">
              <a:spcBef>
                <a:spcPts val="1000"/>
              </a:spcBef>
              <a:spcAft>
                <a:spcPts val="0"/>
              </a:spcAft>
              <a:buSzPts val="2150"/>
              <a:buChar char="•"/>
            </a:pPr>
            <a:r>
              <a:rPr lang="en-US" sz="2150" b="1"/>
              <a:t>Clear and Fair Policies: Creating consistent guidelines helps reduce confusion and stress around what is and isn’t allowed, while still encouraging responsible innovation.</a:t>
            </a:r>
            <a:endParaRPr sz="2150" b="1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50" b="1"/>
          </a:p>
          <a:p>
            <a:pPr marL="457200" lvl="0" indent="-365125" algn="l" rtl="0">
              <a:spcBef>
                <a:spcPts val="1000"/>
              </a:spcBef>
              <a:spcAft>
                <a:spcPts val="0"/>
              </a:spcAft>
              <a:buSzPts val="2150"/>
              <a:buChar char="•"/>
            </a:pPr>
            <a:r>
              <a:rPr lang="en-US" sz="2150" b="1"/>
              <a:t>Protecting the WFU Degree: Moving away from strict, unclear enforcement and toward more meaningful assessments helps maintain the value and integrity of a Wake Forest education.</a:t>
            </a:r>
            <a:endParaRPr sz="2150" b="1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50" b="1"/>
          </a:p>
          <a:p>
            <a:pPr marL="457200" lvl="0" indent="-365125" algn="l" rtl="0">
              <a:spcBef>
                <a:spcPts val="1000"/>
              </a:spcBef>
              <a:spcAft>
                <a:spcPts val="0"/>
              </a:spcAft>
              <a:buSzPts val="2150"/>
              <a:buChar char="•"/>
            </a:pPr>
            <a:r>
              <a:rPr lang="en-US" sz="2150" b="1"/>
              <a:t>Preparing Students for the Real World: Supporting thoughtful use of AI ensures graduates are career-ready without lowering academic standards.</a:t>
            </a:r>
            <a:endParaRPr sz="215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15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>
            <a:off x="1461050" y="344764"/>
            <a:ext cx="9892800" cy="87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Boundaries &amp; Assumptions</a:t>
            </a:r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>
            <a:off x="1461050" y="1401417"/>
            <a:ext cx="9892800" cy="47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US" sz="2300" b="1"/>
              <a:t>Boundaries: This analysis focuses strictly on WFU student survey data from the current academic year; it does not include faculty-side surveys or external community data.</a:t>
            </a:r>
            <a:endParaRPr sz="23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 b="1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US" sz="2300" b="1"/>
              <a:t>Assumptions: We assume "Self-Reported" data is accurate and that the anonymized responses represent the broader student body diversity</a:t>
            </a:r>
            <a:r>
              <a:rPr lang="en-US" sz="2300"/>
              <a:t>.</a:t>
            </a:r>
            <a:endParaRPr sz="23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1461050" y="344764"/>
            <a:ext cx="9892800" cy="87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Timeline</a:t>
            </a:r>
            <a:endParaRPr/>
          </a:p>
        </p:txBody>
      </p:sp>
      <p:pic>
        <p:nvPicPr>
          <p:cNvPr id="96" name="Google Shape;96;p15" title="Screenshot 2026-02-01 at 00.06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038" y="1014951"/>
            <a:ext cx="10233813" cy="58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1461050" y="344764"/>
            <a:ext cx="9892800" cy="87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Know We’ve Succeeded</a:t>
            </a:r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1461050" y="1401417"/>
            <a:ext cx="9892800" cy="47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marR="0" lvl="0" indent="-3672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4"/>
              <a:buChar char="•"/>
            </a:pPr>
            <a:r>
              <a:rPr lang="en-US" sz="2183" b="1"/>
              <a:t>Identified key student use cases and segments regarding AI use</a:t>
            </a:r>
            <a:endParaRPr sz="2183" b="1"/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183" b="1"/>
          </a:p>
          <a:p>
            <a:pPr marL="457200" marR="0" lvl="0" indent="-3672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4"/>
              <a:buChar char="•"/>
            </a:pPr>
            <a:r>
              <a:rPr lang="en-US" sz="2183" b="1"/>
              <a:t>Extracted interpretable themes from open-ended responses about AI’s role in higher education</a:t>
            </a:r>
            <a:endParaRPr sz="2183" b="1"/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183" b="1"/>
          </a:p>
          <a:p>
            <a:pPr marL="457200" marR="0" lvl="0" indent="-3672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4"/>
              <a:buChar char="•"/>
            </a:pPr>
            <a:r>
              <a:rPr lang="en-US" sz="2183" b="1"/>
              <a:t>Developed meaningful differences and themes between student groups regarding their AI use (class year, school, program)</a:t>
            </a:r>
            <a:endParaRPr sz="2183" b="1"/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183" b="1"/>
          </a:p>
          <a:p>
            <a:pPr marL="457200" marR="0" lvl="0" indent="-3672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4"/>
              <a:buChar char="•"/>
            </a:pPr>
            <a:r>
              <a:rPr lang="en-US" sz="2183" b="1"/>
              <a:t>Effectively compared Wake Forest to other peer institutions on their AI usage and attitudes</a:t>
            </a:r>
            <a:endParaRPr sz="2183" b="1"/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183" b="1"/>
          </a:p>
          <a:p>
            <a:pPr marL="457200" marR="0" lvl="0" indent="-3672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84"/>
              <a:buChar char="•"/>
            </a:pPr>
            <a:r>
              <a:rPr lang="en-US" sz="2183" b="1"/>
              <a:t>Produced actionable recommendations for Professor McKeen based on our analysis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1431275" y="2990389"/>
            <a:ext cx="9892800" cy="87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A38342"/>
      </a:dk1>
      <a:lt1>
        <a:srgbClr val="FFFFFF"/>
      </a:lt1>
      <a:dk2>
        <a:srgbClr val="000000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</Words>
  <Application>Microsoft Macintosh PowerPoint</Application>
  <PresentationFormat>Widescreen</PresentationFormat>
  <Paragraphs>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Cormorant</vt:lpstr>
      <vt:lpstr>Calibri</vt:lpstr>
      <vt:lpstr>Arial</vt:lpstr>
      <vt:lpstr>Nunito Sans</vt:lpstr>
      <vt:lpstr>Office Theme</vt:lpstr>
      <vt:lpstr>AI Survey Team</vt:lpstr>
      <vt:lpstr>Issue</vt:lpstr>
      <vt:lpstr>Framing Questions</vt:lpstr>
      <vt:lpstr>PowerPoint Presentation</vt:lpstr>
      <vt:lpstr>Causes of the Problem</vt:lpstr>
      <vt:lpstr>Value of the Problem</vt:lpstr>
      <vt:lpstr>Boundaries &amp; Assumptions</vt:lpstr>
      <vt:lpstr>Timeline</vt:lpstr>
      <vt:lpstr>How Do We Know We’ve Succeeded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Qi, Zhanyi</cp:lastModifiedBy>
  <cp:revision>1</cp:revision>
  <dcterms:modified xsi:type="dcterms:W3CDTF">2026-02-01T20:06:10Z</dcterms:modified>
</cp:coreProperties>
</file>