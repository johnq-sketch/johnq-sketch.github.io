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Cormorant"/>
      <p:regular r:id="rId15"/>
      <p:bold r:id="rId16"/>
      <p:italic r:id="rId17"/>
      <p:boldItalic r:id="rId18"/>
    </p:embeddedFont>
    <p:embeddedFont>
      <p:font typeface="Nunito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Sans-bold.fntdata"/><Relationship Id="rId11" Type="http://schemas.openxmlformats.org/officeDocument/2006/relationships/slide" Target="slides/slide7.xml"/><Relationship Id="rId22" Type="http://schemas.openxmlformats.org/officeDocument/2006/relationships/font" Target="fonts/NunitoSans-boldItalic.fntdata"/><Relationship Id="rId10" Type="http://schemas.openxmlformats.org/officeDocument/2006/relationships/slide" Target="slides/slide6.xml"/><Relationship Id="rId21" Type="http://schemas.openxmlformats.org/officeDocument/2006/relationships/font" Target="fonts/NunitoSans-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Cormorant-regular.fntdata"/><Relationship Id="rId14" Type="http://schemas.openxmlformats.org/officeDocument/2006/relationships/slide" Target="slides/slide10.xml"/><Relationship Id="rId17" Type="http://schemas.openxmlformats.org/officeDocument/2006/relationships/font" Target="fonts/Cormorant-italic.fntdata"/><Relationship Id="rId16" Type="http://schemas.openxmlformats.org/officeDocument/2006/relationships/font" Target="fonts/Cormorant-bold.fntdata"/><Relationship Id="rId5" Type="http://schemas.openxmlformats.org/officeDocument/2006/relationships/slide" Target="slides/slide1.xml"/><Relationship Id="rId19" Type="http://schemas.openxmlformats.org/officeDocument/2006/relationships/font" Target="fonts/NunitoSans-regular.fntdata"/><Relationship Id="rId6" Type="http://schemas.openxmlformats.org/officeDocument/2006/relationships/slide" Target="slides/slide2.xml"/><Relationship Id="rId18" Type="http://schemas.openxmlformats.org/officeDocument/2006/relationships/font" Target="fonts/Cormorant-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d3f758b407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d3f758b40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Zhanyi   AACSB</a:t>
            </a:r>
            <a:endParaRPr b="1"/>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3f758b407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3f758b40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Rhyan</a:t>
            </a:r>
            <a:endParaRPr/>
          </a:p>
          <a:p>
            <a:pPr indent="0" lvl="0" marL="0" rtl="0" algn="l">
              <a:lnSpc>
                <a:spcPct val="115000"/>
              </a:lnSpc>
              <a:spcBef>
                <a:spcPts val="1200"/>
              </a:spcBef>
              <a:spcAft>
                <a:spcPts val="0"/>
              </a:spcAft>
              <a:buClr>
                <a:schemeClr val="dk1"/>
              </a:buClr>
              <a:buSzPts val="1100"/>
              <a:buFont typeface="Arial"/>
              <a:buNone/>
            </a:pPr>
            <a:r>
              <a:rPr lang="en-US"/>
              <a:t>We've structured our recommendations using the Pyramid format,  one governing though of teaching students how to use AI effectively while reinforcing, not replacing critical thinking,  three conclusions, each grounded in evidence. This format aligns with the three categories we've </a:t>
            </a:r>
            <a:r>
              <a:rPr lang="en-US"/>
              <a:t>separated</a:t>
            </a:r>
            <a:r>
              <a:rPr lang="en-US"/>
              <a:t> our analysis into throughout this project: academic integrity, critical thinking, and workforce preparedness.</a:t>
            </a:r>
            <a:endParaRPr/>
          </a:p>
          <a:p>
            <a:pPr indent="0" lvl="0" marL="0" rtl="0" algn="l">
              <a:lnSpc>
                <a:spcPct val="115000"/>
              </a:lnSpc>
              <a:spcBef>
                <a:spcPts val="1200"/>
              </a:spcBef>
              <a:spcAft>
                <a:spcPts val="0"/>
              </a:spcAft>
              <a:buClr>
                <a:schemeClr val="dk1"/>
              </a:buClr>
              <a:buSzPts val="1100"/>
              <a:buFont typeface="Arial"/>
              <a:buNone/>
            </a:pPr>
            <a:r>
              <a:rPr lang="en-US"/>
              <a:t>Each conclusion or </a:t>
            </a:r>
            <a:r>
              <a:rPr lang="en-US"/>
              <a:t>recommendation</a:t>
            </a:r>
            <a:r>
              <a:rPr lang="en-US"/>
              <a:t> we will make to our client stems directly from our framing question and governing thought — of how to prepare business students for an AI driven work force without compromising </a:t>
            </a:r>
            <a:r>
              <a:rPr lang="en-US"/>
              <a:t>critical</a:t>
            </a:r>
            <a:r>
              <a:rPr lang="en-US"/>
              <a:t> thinking ability.. The three conclusions you see here each address one of those categories, and we'll walk through the supporting evidence for each in the slides ahead.</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3f758b407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3f758b40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Rhyan</a:t>
            </a:r>
            <a:endParaRPr/>
          </a:p>
          <a:p>
            <a:pPr indent="0" lvl="0" marL="0" rtl="0" algn="l">
              <a:lnSpc>
                <a:spcPct val="115000"/>
              </a:lnSpc>
              <a:spcBef>
                <a:spcPts val="1200"/>
              </a:spcBef>
              <a:spcAft>
                <a:spcPts val="0"/>
              </a:spcAft>
              <a:buClr>
                <a:schemeClr val="dk1"/>
              </a:buClr>
              <a:buSzPts val="1100"/>
              <a:buFont typeface="Arial"/>
              <a:buNone/>
            </a:pPr>
            <a:r>
              <a:rPr lang="en-US"/>
              <a:t>Our data makes a clear case for establishing a Gen AI Foundations course as a divisional requirement that would create a shared baseline for all students in their understanding of appropiate Ai use in terms of ethics and AI literacy, before entering a major course. This removes the ambiguity that leads to inconsistent behaviors across departments. </a:t>
            </a:r>
            <a:endParaRPr/>
          </a:p>
          <a:p>
            <a:pPr indent="0" lvl="0" marL="0" rtl="0" algn="l">
              <a:lnSpc>
                <a:spcPct val="115000"/>
              </a:lnSpc>
              <a:spcBef>
                <a:spcPts val="1200"/>
              </a:spcBef>
              <a:spcAft>
                <a:spcPts val="0"/>
              </a:spcAft>
              <a:buNone/>
            </a:pPr>
            <a:r>
              <a:rPr lang="en-US"/>
              <a:t>Right now, students are arriving in their courses without a shared understanding of how AI should, and shouldn't,  be used. About 35% of business </a:t>
            </a:r>
            <a:r>
              <a:rPr lang="en-US"/>
              <a:t>school</a:t>
            </a:r>
            <a:r>
              <a:rPr lang="en-US"/>
              <a:t> students are avoiding AI tools altogether out of fear of academic dishonesty, and a quarter aren't sure when use is even permitted</a:t>
            </a:r>
            <a:endParaRPr/>
          </a:p>
          <a:p>
            <a:pPr indent="0" lvl="0" marL="0" rtl="0" algn="l">
              <a:lnSpc>
                <a:spcPct val="115000"/>
              </a:lnSpc>
              <a:spcBef>
                <a:spcPts val="1200"/>
              </a:spcBef>
              <a:spcAft>
                <a:spcPts val="0"/>
              </a:spcAft>
              <a:buNone/>
            </a:pPr>
            <a:r>
              <a:rPr lang="en-US"/>
              <a:t>Students are reporting they want this support. Of the 349 business students surveyed, the top needs were clear: professor guidelines, verification training, and prompting support. These numbers indicate students asking for university support in </a:t>
            </a:r>
            <a:r>
              <a:rPr lang="en-US"/>
              <a:t>clearing</a:t>
            </a:r>
            <a:r>
              <a:rPr lang="en-US"/>
              <a:t> up faculty expectations around responsible Ai use and ultimately aligning student and faculty expectations. </a:t>
            </a:r>
            <a:endParaRPr/>
          </a:p>
          <a:p>
            <a:pPr indent="0" lvl="0" marL="0" rtl="0" algn="l">
              <a:spcBef>
                <a:spcPts val="1200"/>
              </a:spcBef>
              <a:spcAft>
                <a:spcPts val="0"/>
              </a:spcAft>
              <a:buNone/>
            </a:pPr>
            <a:r>
              <a:rPr lang="en-US"/>
              <a:t>Furthermore, </a:t>
            </a:r>
            <a:r>
              <a:rPr lang="en-US"/>
              <a:t>further</a:t>
            </a:r>
            <a:r>
              <a:rPr lang="en-US"/>
              <a:t> evidence from the open response question </a:t>
            </a:r>
            <a:r>
              <a:rPr lang="en-US"/>
              <a:t>about</a:t>
            </a:r>
            <a:r>
              <a:rPr lang="en-US"/>
              <a:t> AI’s role in higher education is: </a:t>
            </a:r>
            <a:endParaRPr/>
          </a:p>
          <a:p>
            <a:pPr indent="0" lvl="0" marL="0" rtl="0" algn="l">
              <a:spcBef>
                <a:spcPts val="0"/>
              </a:spcBef>
              <a:spcAft>
                <a:spcPts val="0"/>
              </a:spcAft>
              <a:buNone/>
            </a:pPr>
            <a:r>
              <a:rPr lang="en-US"/>
              <a:t>“I t</a:t>
            </a:r>
            <a:r>
              <a:rPr lang="en-US">
                <a:solidFill>
                  <a:schemeClr val="dk1"/>
                </a:solidFill>
              </a:rPr>
              <a:t>hink courses on AI, access to AI tools, frequent news, clear expectations, and guidelines are all essential.”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think the role of the university education system with regard to Gen AI is to clarify expectations to avoid confusion, ensure honor compliance, improve security and ensure the integrity of AI information… I look to Wake to help set the standards and policies as we move toward the adoption of this new technology.”</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3f758b407_3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3f758b407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Kevin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Students feel confident that AI will affect their job, they feel prepared for that disruption, but that preparedness is fully self reported with no university guidance or instruction leading to that confidence. So in reality, students that feel prepared may actually not be prepared for the AI led disruption in the </a:t>
            </a:r>
            <a:r>
              <a:rPr lang="en-US"/>
              <a:t>workforce</a:t>
            </a:r>
            <a:r>
              <a:rPr lang="en-US"/>
              <a:t> that they </a:t>
            </a:r>
            <a:r>
              <a:rPr lang="en-US"/>
              <a:t>believe</a:t>
            </a:r>
            <a:r>
              <a:rPr lang="en-US"/>
              <a:t> is coming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Students want institutional response not class by class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3f758b407_3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3f758b407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Kevin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UNC stat - we don’t have faculty data but this sentiment aligns with our recommendation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bottom is a quote from a student who was consistently asked in interviews how AI fluent they are. They cited not having an AI credential to speak to as something that could have helped him out in these interviews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3f758b407_4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3f758b407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Bjorn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3f758b407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3f758b40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Bjorn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3f758b407_4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3f758b407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Zhanyi</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15a68d3de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15a68d3d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2395870" y="154883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ormorant"/>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2395870" y="4646428"/>
            <a:ext cx="9144000" cy="36512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1600"/>
              <a:buNone/>
              <a:defRPr sz="1600" cap="none">
                <a:solidFill>
                  <a:schemeClr val="dk1"/>
                </a:solidFill>
                <a:latin typeface="Nunito Sans"/>
                <a:ea typeface="Nunito Sans"/>
                <a:cs typeface="Nunito Sans"/>
                <a:sym typeface="Nunito Sans"/>
              </a:defRPr>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2395870" y="6356349"/>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624227" y="6356348"/>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847034" y="6356348"/>
            <a:ext cx="269283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 name="Google Shape;17;p2"/>
          <p:cNvSpPr txBox="1"/>
          <p:nvPr>
            <p:ph idx="2" type="body"/>
          </p:nvPr>
        </p:nvSpPr>
        <p:spPr>
          <a:xfrm>
            <a:off x="2395870" y="5091682"/>
            <a:ext cx="9144000" cy="4349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Font typeface="Cormorant"/>
              <a:buNone/>
              <a:defRPr sz="1800">
                <a:solidFill>
                  <a:schemeClr val="dk1"/>
                </a:solidFill>
                <a:latin typeface="Cormorant"/>
                <a:ea typeface="Cormorant"/>
                <a:cs typeface="Cormorant"/>
                <a:sym typeface="Cormorant"/>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1461050" y="344764"/>
            <a:ext cx="9892748" cy="87726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body"/>
          </p:nvPr>
        </p:nvSpPr>
        <p:spPr>
          <a:xfrm>
            <a:off x="1461050" y="1401417"/>
            <a:ext cx="9892749" cy="47755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1463560" y="1736726"/>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ormorant"/>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body"/>
          </p:nvPr>
        </p:nvSpPr>
        <p:spPr>
          <a:xfrm>
            <a:off x="146356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BFAD91"/>
              </a:buClr>
              <a:buSzPts val="2400"/>
              <a:buNone/>
              <a:defRPr sz="2400">
                <a:solidFill>
                  <a:srgbClr val="BFAD91"/>
                </a:solidFill>
              </a:defRPr>
            </a:lvl1pPr>
            <a:lvl2pPr indent="-228600" lvl="1" marL="914400" algn="l">
              <a:lnSpc>
                <a:spcPct val="90000"/>
              </a:lnSpc>
              <a:spcBef>
                <a:spcPts val="500"/>
              </a:spcBef>
              <a:spcAft>
                <a:spcPts val="0"/>
              </a:spcAft>
              <a:buClr>
                <a:srgbClr val="BFAD91"/>
              </a:buClr>
              <a:buSzPts val="2000"/>
              <a:buNone/>
              <a:defRPr sz="2000">
                <a:solidFill>
                  <a:srgbClr val="BFAD91"/>
                </a:solidFill>
              </a:defRPr>
            </a:lvl2pPr>
            <a:lvl3pPr indent="-228600" lvl="2" marL="1371600" algn="l">
              <a:lnSpc>
                <a:spcPct val="90000"/>
              </a:lnSpc>
              <a:spcBef>
                <a:spcPts val="500"/>
              </a:spcBef>
              <a:spcAft>
                <a:spcPts val="0"/>
              </a:spcAft>
              <a:buClr>
                <a:srgbClr val="BFAD91"/>
              </a:buClr>
              <a:buSzPts val="1800"/>
              <a:buNone/>
              <a:defRPr sz="1800">
                <a:solidFill>
                  <a:srgbClr val="BFAD91"/>
                </a:solidFill>
              </a:defRPr>
            </a:lvl3pPr>
            <a:lvl4pPr indent="-228600" lvl="3" marL="1828800" algn="l">
              <a:lnSpc>
                <a:spcPct val="90000"/>
              </a:lnSpc>
              <a:spcBef>
                <a:spcPts val="500"/>
              </a:spcBef>
              <a:spcAft>
                <a:spcPts val="0"/>
              </a:spcAft>
              <a:buClr>
                <a:srgbClr val="BFAD91"/>
              </a:buClr>
              <a:buSzPts val="1600"/>
              <a:buNone/>
              <a:defRPr sz="1600">
                <a:solidFill>
                  <a:srgbClr val="BFAD91"/>
                </a:solidFill>
              </a:defRPr>
            </a:lvl4pPr>
            <a:lvl5pPr indent="-228600" lvl="4" marL="2286000" algn="l">
              <a:lnSpc>
                <a:spcPct val="90000"/>
              </a:lnSpc>
              <a:spcBef>
                <a:spcPts val="500"/>
              </a:spcBef>
              <a:spcAft>
                <a:spcPts val="0"/>
              </a:spcAft>
              <a:buClr>
                <a:srgbClr val="BFAD91"/>
              </a:buClr>
              <a:buSzPts val="1600"/>
              <a:buNone/>
              <a:defRPr sz="1600">
                <a:solidFill>
                  <a:srgbClr val="BFAD91"/>
                </a:solidFill>
              </a:defRPr>
            </a:lvl5pPr>
            <a:lvl6pPr indent="-228600" lvl="5" marL="2743200" algn="l">
              <a:lnSpc>
                <a:spcPct val="90000"/>
              </a:lnSpc>
              <a:spcBef>
                <a:spcPts val="500"/>
              </a:spcBef>
              <a:spcAft>
                <a:spcPts val="0"/>
              </a:spcAft>
              <a:buClr>
                <a:srgbClr val="BFAD91"/>
              </a:buClr>
              <a:buSzPts val="1600"/>
              <a:buNone/>
              <a:defRPr sz="1600">
                <a:solidFill>
                  <a:srgbClr val="BFAD91"/>
                </a:solidFill>
              </a:defRPr>
            </a:lvl6pPr>
            <a:lvl7pPr indent="-228600" lvl="6" marL="3200400" algn="l">
              <a:lnSpc>
                <a:spcPct val="90000"/>
              </a:lnSpc>
              <a:spcBef>
                <a:spcPts val="500"/>
              </a:spcBef>
              <a:spcAft>
                <a:spcPts val="0"/>
              </a:spcAft>
              <a:buClr>
                <a:srgbClr val="BFAD91"/>
              </a:buClr>
              <a:buSzPts val="1600"/>
              <a:buNone/>
              <a:defRPr sz="1600">
                <a:solidFill>
                  <a:srgbClr val="BFAD91"/>
                </a:solidFill>
              </a:defRPr>
            </a:lvl7pPr>
            <a:lvl8pPr indent="-228600" lvl="7" marL="3657600" algn="l">
              <a:lnSpc>
                <a:spcPct val="90000"/>
              </a:lnSpc>
              <a:spcBef>
                <a:spcPts val="500"/>
              </a:spcBef>
              <a:spcAft>
                <a:spcPts val="0"/>
              </a:spcAft>
              <a:buClr>
                <a:srgbClr val="BFAD91"/>
              </a:buClr>
              <a:buSzPts val="1600"/>
              <a:buNone/>
              <a:defRPr sz="1600">
                <a:solidFill>
                  <a:srgbClr val="BFAD91"/>
                </a:solidFill>
              </a:defRPr>
            </a:lvl8pPr>
            <a:lvl9pPr indent="-228600" lvl="8" marL="4114800" algn="l">
              <a:lnSpc>
                <a:spcPct val="90000"/>
              </a:lnSpc>
              <a:spcBef>
                <a:spcPts val="500"/>
              </a:spcBef>
              <a:spcAft>
                <a:spcPts val="0"/>
              </a:spcAft>
              <a:buClr>
                <a:srgbClr val="BFAD91"/>
              </a:buClr>
              <a:buSzPts val="1600"/>
              <a:buNone/>
              <a:defRPr sz="1600">
                <a:solidFill>
                  <a:srgbClr val="BFAD91"/>
                </a:solidFill>
              </a:defRPr>
            </a:lvl9pPr>
          </a:lstStyle>
          <a:p/>
        </p:txBody>
      </p:sp>
      <p:sp>
        <p:nvSpPr>
          <p:cNvPr id="27" name="Google Shape;27;p4"/>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1461050" y="344764"/>
            <a:ext cx="9892748" cy="87726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1477317" y="1825625"/>
            <a:ext cx="4913209"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2" type="body"/>
          </p:nvPr>
        </p:nvSpPr>
        <p:spPr>
          <a:xfrm>
            <a:off x="6678202" y="1825625"/>
            <a:ext cx="4675598"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1461050" y="344764"/>
            <a:ext cx="9892748" cy="87726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7"/>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61050" y="344764"/>
            <a:ext cx="9892748" cy="87726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5200"/>
              <a:buFont typeface="Cormorant"/>
              <a:buNone/>
              <a:defRPr b="0" i="0" sz="5200" u="none" cap="none" strike="noStrike">
                <a:solidFill>
                  <a:schemeClr val="dk1"/>
                </a:solidFill>
                <a:latin typeface="Cormorant"/>
                <a:ea typeface="Cormorant"/>
                <a:cs typeface="Cormorant"/>
                <a:sym typeface="Cormoran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1461050" y="1401417"/>
            <a:ext cx="9892749" cy="477554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Nunito Sans"/>
                <a:ea typeface="Nunito Sans"/>
                <a:cs typeface="Nunito Sans"/>
                <a:sym typeface="Nunito Sans"/>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Nunito Sans"/>
                <a:ea typeface="Nunito Sans"/>
                <a:cs typeface="Nunito Sans"/>
                <a:sym typeface="Nunito Sans"/>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Nunito Sans"/>
                <a:ea typeface="Nunito Sans"/>
                <a:cs typeface="Nunito Sans"/>
                <a:sym typeface="Nunito Sans"/>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Nunito Sans"/>
                <a:ea typeface="Nunito Sans"/>
                <a:cs typeface="Nunito Sans"/>
                <a:sym typeface="Nunito Sans"/>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Nunito Sans"/>
                <a:ea typeface="Nunito Sans"/>
                <a:cs typeface="Nunito Sans"/>
                <a:sym typeface="Nunito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FAD91"/>
                </a:solidFill>
                <a:latin typeface="Cormorant"/>
                <a:ea typeface="Cormorant"/>
                <a:cs typeface="Cormorant"/>
                <a:sym typeface="Cormorant"/>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BFAD91"/>
                </a:solidFill>
                <a:latin typeface="Cormorant"/>
                <a:ea typeface="Cormorant"/>
                <a:cs typeface="Cormorant"/>
                <a:sym typeface="Cormorant"/>
              </a:defRPr>
            </a:lvl1pPr>
            <a:lvl2pPr indent="0" lvl="1" marL="0" marR="0" rtl="0" algn="r">
              <a:spcBef>
                <a:spcPts val="0"/>
              </a:spcBef>
              <a:buNone/>
              <a:defRPr b="0" i="0" sz="1200" u="none" cap="none" strike="noStrike">
                <a:solidFill>
                  <a:srgbClr val="BFAD91"/>
                </a:solidFill>
                <a:latin typeface="Cormorant"/>
                <a:ea typeface="Cormorant"/>
                <a:cs typeface="Cormorant"/>
                <a:sym typeface="Cormorant"/>
              </a:defRPr>
            </a:lvl2pPr>
            <a:lvl3pPr indent="0" lvl="2" marL="0" marR="0" rtl="0" algn="r">
              <a:spcBef>
                <a:spcPts val="0"/>
              </a:spcBef>
              <a:buNone/>
              <a:defRPr b="0" i="0" sz="1200" u="none" cap="none" strike="noStrike">
                <a:solidFill>
                  <a:srgbClr val="BFAD91"/>
                </a:solidFill>
                <a:latin typeface="Cormorant"/>
                <a:ea typeface="Cormorant"/>
                <a:cs typeface="Cormorant"/>
                <a:sym typeface="Cormorant"/>
              </a:defRPr>
            </a:lvl3pPr>
            <a:lvl4pPr indent="0" lvl="3" marL="0" marR="0" rtl="0" algn="r">
              <a:spcBef>
                <a:spcPts val="0"/>
              </a:spcBef>
              <a:buNone/>
              <a:defRPr b="0" i="0" sz="1200" u="none" cap="none" strike="noStrike">
                <a:solidFill>
                  <a:srgbClr val="BFAD91"/>
                </a:solidFill>
                <a:latin typeface="Cormorant"/>
                <a:ea typeface="Cormorant"/>
                <a:cs typeface="Cormorant"/>
                <a:sym typeface="Cormorant"/>
              </a:defRPr>
            </a:lvl4pPr>
            <a:lvl5pPr indent="0" lvl="4" marL="0" marR="0" rtl="0" algn="r">
              <a:spcBef>
                <a:spcPts val="0"/>
              </a:spcBef>
              <a:buNone/>
              <a:defRPr b="0" i="0" sz="1200" u="none" cap="none" strike="noStrike">
                <a:solidFill>
                  <a:srgbClr val="BFAD91"/>
                </a:solidFill>
                <a:latin typeface="Cormorant"/>
                <a:ea typeface="Cormorant"/>
                <a:cs typeface="Cormorant"/>
                <a:sym typeface="Cormorant"/>
              </a:defRPr>
            </a:lvl5pPr>
            <a:lvl6pPr indent="0" lvl="5" marL="0" marR="0" rtl="0" algn="r">
              <a:spcBef>
                <a:spcPts val="0"/>
              </a:spcBef>
              <a:buNone/>
              <a:defRPr b="0" i="0" sz="1200" u="none" cap="none" strike="noStrike">
                <a:solidFill>
                  <a:srgbClr val="BFAD91"/>
                </a:solidFill>
                <a:latin typeface="Cormorant"/>
                <a:ea typeface="Cormorant"/>
                <a:cs typeface="Cormorant"/>
                <a:sym typeface="Cormorant"/>
              </a:defRPr>
            </a:lvl6pPr>
            <a:lvl7pPr indent="0" lvl="6" marL="0" marR="0" rtl="0" algn="r">
              <a:spcBef>
                <a:spcPts val="0"/>
              </a:spcBef>
              <a:buNone/>
              <a:defRPr b="0" i="0" sz="1200" u="none" cap="none" strike="noStrike">
                <a:solidFill>
                  <a:srgbClr val="BFAD91"/>
                </a:solidFill>
                <a:latin typeface="Cormorant"/>
                <a:ea typeface="Cormorant"/>
                <a:cs typeface="Cormorant"/>
                <a:sym typeface="Cormorant"/>
              </a:defRPr>
            </a:lvl7pPr>
            <a:lvl8pPr indent="0" lvl="7" marL="0" marR="0" rtl="0" algn="r">
              <a:spcBef>
                <a:spcPts val="0"/>
              </a:spcBef>
              <a:buNone/>
              <a:defRPr b="0" i="0" sz="1200" u="none" cap="none" strike="noStrike">
                <a:solidFill>
                  <a:srgbClr val="BFAD91"/>
                </a:solidFill>
                <a:latin typeface="Cormorant"/>
                <a:ea typeface="Cormorant"/>
                <a:cs typeface="Cormorant"/>
                <a:sym typeface="Cormorant"/>
              </a:defRPr>
            </a:lvl8pPr>
            <a:lvl9pPr indent="0" lvl="8" marL="0" marR="0" rtl="0" algn="r">
              <a:spcBef>
                <a:spcPts val="0"/>
              </a:spcBef>
              <a:buNone/>
              <a:defRPr b="0" i="0" sz="1200" u="none" cap="none" strike="noStrike">
                <a:solidFill>
                  <a:srgbClr val="BFAD91"/>
                </a:solidFill>
                <a:latin typeface="Cormorant"/>
                <a:ea typeface="Cormorant"/>
                <a:cs typeface="Cormorant"/>
                <a:sym typeface="Cormorant"/>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BFAD9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 Id="rId11" Type="http://schemas.openxmlformats.org/officeDocument/2006/relationships/image" Target="../media/image9.png"/><Relationship Id="rId10" Type="http://schemas.openxmlformats.org/officeDocument/2006/relationships/image" Target="../media/image3.png"/><Relationship Id="rId12" Type="http://schemas.openxmlformats.org/officeDocument/2006/relationships/image" Target="../media/image7.png"/><Relationship Id="rId9"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9"/>
          <p:cNvSpPr txBox="1"/>
          <p:nvPr>
            <p:ph type="ctrTitle"/>
          </p:nvPr>
        </p:nvSpPr>
        <p:spPr>
          <a:xfrm>
            <a:off x="2395870" y="1548830"/>
            <a:ext cx="9144000" cy="238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ormorant"/>
              <a:buNone/>
            </a:pPr>
            <a:r>
              <a:rPr lang="en-US"/>
              <a:t>Making Sense Presentation</a:t>
            </a:r>
            <a:endParaRPr/>
          </a:p>
        </p:txBody>
      </p:sp>
      <p:sp>
        <p:nvSpPr>
          <p:cNvPr id="52" name="Google Shape;52;p9"/>
          <p:cNvSpPr txBox="1"/>
          <p:nvPr>
            <p:ph idx="1" type="subTitle"/>
          </p:nvPr>
        </p:nvSpPr>
        <p:spPr>
          <a:xfrm>
            <a:off x="2395870" y="4646428"/>
            <a:ext cx="9144000" cy="3651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rPr lang="en-US"/>
              <a:t>April 6th</a:t>
            </a:r>
            <a:endParaRPr/>
          </a:p>
        </p:txBody>
      </p:sp>
      <p:sp>
        <p:nvSpPr>
          <p:cNvPr id="53" name="Google Shape;53;p9"/>
          <p:cNvSpPr txBox="1"/>
          <p:nvPr>
            <p:ph idx="2" type="body"/>
          </p:nvPr>
        </p:nvSpPr>
        <p:spPr>
          <a:xfrm>
            <a:off x="2395870" y="5091682"/>
            <a:ext cx="9144000" cy="4349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ormorant"/>
              <a:buNone/>
            </a:pPr>
            <a:r>
              <a:rPr lang="en-US"/>
              <a:t>AI Survey 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0"/>
          <p:cNvSpPr txBox="1"/>
          <p:nvPr>
            <p:ph type="title"/>
          </p:nvPr>
        </p:nvSpPr>
        <p:spPr>
          <a:xfrm>
            <a:off x="1461050" y="344764"/>
            <a:ext cx="9892800" cy="877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Stakeholder Analysis</a:t>
            </a:r>
            <a:endParaRPr/>
          </a:p>
        </p:txBody>
      </p:sp>
      <p:grpSp>
        <p:nvGrpSpPr>
          <p:cNvPr id="59" name="Google Shape;59;p10"/>
          <p:cNvGrpSpPr/>
          <p:nvPr/>
        </p:nvGrpSpPr>
        <p:grpSpPr>
          <a:xfrm>
            <a:off x="7337500" y="1403225"/>
            <a:ext cx="4135150" cy="790800"/>
            <a:chOff x="7456350" y="1165925"/>
            <a:chExt cx="4135150" cy="790800"/>
          </a:xfrm>
        </p:grpSpPr>
        <p:sp>
          <p:nvSpPr>
            <p:cNvPr id="60" name="Google Shape;60;p10"/>
            <p:cNvSpPr/>
            <p:nvPr/>
          </p:nvSpPr>
          <p:spPr>
            <a:xfrm>
              <a:off x="7456350" y="1403225"/>
              <a:ext cx="316200" cy="3162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61" name="Google Shape;61;p10"/>
            <p:cNvSpPr txBox="1"/>
            <p:nvPr/>
          </p:nvSpPr>
          <p:spPr>
            <a:xfrm>
              <a:off x="7952200" y="1165925"/>
              <a:ext cx="3639300" cy="7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Nunito Sans"/>
                  <a:ea typeface="Nunito Sans"/>
                  <a:cs typeface="Nunito Sans"/>
                  <a:sym typeface="Nunito Sans"/>
                </a:rPr>
                <a:t>Students: various interest levels and various </a:t>
              </a:r>
              <a:r>
                <a:rPr lang="en-US" sz="1800">
                  <a:solidFill>
                    <a:schemeClr val="lt1"/>
                  </a:solidFill>
                  <a:latin typeface="Nunito Sans"/>
                  <a:ea typeface="Nunito Sans"/>
                  <a:cs typeface="Nunito Sans"/>
                  <a:sym typeface="Nunito Sans"/>
                </a:rPr>
                <a:t>degrees</a:t>
              </a:r>
              <a:r>
                <a:rPr lang="en-US" sz="1800">
                  <a:solidFill>
                    <a:schemeClr val="lt1"/>
                  </a:solidFill>
                  <a:latin typeface="Nunito Sans"/>
                  <a:ea typeface="Nunito Sans"/>
                  <a:cs typeface="Nunito Sans"/>
                  <a:sym typeface="Nunito Sans"/>
                </a:rPr>
                <a:t> of power</a:t>
              </a:r>
              <a:endParaRPr sz="1800">
                <a:solidFill>
                  <a:schemeClr val="lt1"/>
                </a:solidFill>
                <a:latin typeface="Nunito Sans"/>
                <a:ea typeface="Nunito Sans"/>
                <a:cs typeface="Nunito Sans"/>
                <a:sym typeface="Nunito Sans"/>
              </a:endParaRPr>
            </a:p>
          </p:txBody>
        </p:sp>
      </p:grpSp>
      <p:grpSp>
        <p:nvGrpSpPr>
          <p:cNvPr id="62" name="Google Shape;62;p10"/>
          <p:cNvGrpSpPr/>
          <p:nvPr/>
        </p:nvGrpSpPr>
        <p:grpSpPr>
          <a:xfrm>
            <a:off x="7337500" y="2194025"/>
            <a:ext cx="4449550" cy="790800"/>
            <a:chOff x="7456350" y="1165925"/>
            <a:chExt cx="4449550" cy="790800"/>
          </a:xfrm>
        </p:grpSpPr>
        <p:sp>
          <p:nvSpPr>
            <p:cNvPr id="63" name="Google Shape;63;p10"/>
            <p:cNvSpPr/>
            <p:nvPr/>
          </p:nvSpPr>
          <p:spPr>
            <a:xfrm>
              <a:off x="7456350" y="1403225"/>
              <a:ext cx="316200" cy="316200"/>
            </a:xfrm>
            <a:prstGeom prst="ellipse">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64" name="Google Shape;64;p10"/>
            <p:cNvSpPr txBox="1"/>
            <p:nvPr/>
          </p:nvSpPr>
          <p:spPr>
            <a:xfrm>
              <a:off x="7952200" y="1165925"/>
              <a:ext cx="3953700" cy="7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Nunito Sans"/>
                  <a:ea typeface="Nunito Sans"/>
                  <a:cs typeface="Nunito Sans"/>
                  <a:sym typeface="Nunito Sans"/>
                </a:rPr>
                <a:t>Faculty &amp; Professors: direct drivers but with various </a:t>
              </a:r>
              <a:r>
                <a:rPr lang="en-US" sz="1800">
                  <a:solidFill>
                    <a:schemeClr val="lt1"/>
                  </a:solidFill>
                  <a:latin typeface="Nunito Sans"/>
                  <a:ea typeface="Nunito Sans"/>
                  <a:cs typeface="Nunito Sans"/>
                  <a:sym typeface="Nunito Sans"/>
                </a:rPr>
                <a:t>degrees</a:t>
              </a:r>
              <a:r>
                <a:rPr lang="en-US" sz="1800">
                  <a:solidFill>
                    <a:schemeClr val="lt1"/>
                  </a:solidFill>
                  <a:latin typeface="Nunito Sans"/>
                  <a:ea typeface="Nunito Sans"/>
                  <a:cs typeface="Nunito Sans"/>
                  <a:sym typeface="Nunito Sans"/>
                </a:rPr>
                <a:t> of power</a:t>
              </a:r>
              <a:endParaRPr sz="1800">
                <a:solidFill>
                  <a:schemeClr val="lt1"/>
                </a:solidFill>
                <a:latin typeface="Nunito Sans"/>
                <a:ea typeface="Nunito Sans"/>
                <a:cs typeface="Nunito Sans"/>
                <a:sym typeface="Nunito Sans"/>
              </a:endParaRPr>
            </a:p>
          </p:txBody>
        </p:sp>
      </p:grpSp>
      <p:grpSp>
        <p:nvGrpSpPr>
          <p:cNvPr id="65" name="Google Shape;65;p10"/>
          <p:cNvGrpSpPr/>
          <p:nvPr/>
        </p:nvGrpSpPr>
        <p:grpSpPr>
          <a:xfrm>
            <a:off x="7337500" y="2984825"/>
            <a:ext cx="4016350" cy="790800"/>
            <a:chOff x="7456350" y="1165925"/>
            <a:chExt cx="4016350" cy="790800"/>
          </a:xfrm>
        </p:grpSpPr>
        <p:sp>
          <p:nvSpPr>
            <p:cNvPr id="66" name="Google Shape;66;p10"/>
            <p:cNvSpPr/>
            <p:nvPr/>
          </p:nvSpPr>
          <p:spPr>
            <a:xfrm>
              <a:off x="7456350" y="1403225"/>
              <a:ext cx="316200" cy="3162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67" name="Google Shape;67;p10"/>
            <p:cNvSpPr txBox="1"/>
            <p:nvPr/>
          </p:nvSpPr>
          <p:spPr>
            <a:xfrm>
              <a:off x="7952200" y="1165925"/>
              <a:ext cx="3520500" cy="7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Nunito Sans"/>
                  <a:ea typeface="Nunito Sans"/>
                  <a:cs typeface="Nunito Sans"/>
                  <a:sym typeface="Nunito Sans"/>
                </a:rPr>
                <a:t>Dean’s Office: key driver with high interest and high power</a:t>
              </a:r>
              <a:endParaRPr sz="1800">
                <a:solidFill>
                  <a:schemeClr val="lt1"/>
                </a:solidFill>
                <a:latin typeface="Nunito Sans"/>
                <a:ea typeface="Nunito Sans"/>
                <a:cs typeface="Nunito Sans"/>
                <a:sym typeface="Nunito Sans"/>
              </a:endParaRPr>
            </a:p>
          </p:txBody>
        </p:sp>
      </p:grpSp>
      <p:grpSp>
        <p:nvGrpSpPr>
          <p:cNvPr id="68" name="Google Shape;68;p10"/>
          <p:cNvGrpSpPr/>
          <p:nvPr/>
        </p:nvGrpSpPr>
        <p:grpSpPr>
          <a:xfrm>
            <a:off x="7337500" y="3775625"/>
            <a:ext cx="4016350" cy="790800"/>
            <a:chOff x="7456350" y="1165925"/>
            <a:chExt cx="4016350" cy="790800"/>
          </a:xfrm>
        </p:grpSpPr>
        <p:sp>
          <p:nvSpPr>
            <p:cNvPr id="69" name="Google Shape;69;p10"/>
            <p:cNvSpPr/>
            <p:nvPr/>
          </p:nvSpPr>
          <p:spPr>
            <a:xfrm>
              <a:off x="7456350" y="1403225"/>
              <a:ext cx="316200" cy="316200"/>
            </a:xfrm>
            <a:prstGeom prst="ellipse">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70" name="Google Shape;70;p10"/>
            <p:cNvSpPr txBox="1"/>
            <p:nvPr/>
          </p:nvSpPr>
          <p:spPr>
            <a:xfrm>
              <a:off x="7952200" y="1165925"/>
              <a:ext cx="3520500" cy="7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Nunito Sans"/>
                  <a:ea typeface="Nunito Sans"/>
                  <a:cs typeface="Nunito Sans"/>
                  <a:sym typeface="Nunito Sans"/>
                </a:rPr>
                <a:t>Career </a:t>
              </a:r>
              <a:r>
                <a:rPr lang="en-US" sz="1800">
                  <a:solidFill>
                    <a:schemeClr val="lt1"/>
                  </a:solidFill>
                  <a:latin typeface="Nunito Sans"/>
                  <a:ea typeface="Nunito Sans"/>
                  <a:cs typeface="Nunito Sans"/>
                  <a:sym typeface="Nunito Sans"/>
                </a:rPr>
                <a:t>Center</a:t>
              </a:r>
              <a:r>
                <a:rPr lang="en-US" sz="1800">
                  <a:solidFill>
                    <a:schemeClr val="lt1"/>
                  </a:solidFill>
                  <a:latin typeface="Nunito Sans"/>
                  <a:ea typeface="Nunito Sans"/>
                  <a:cs typeface="Nunito Sans"/>
                  <a:sym typeface="Nunito Sans"/>
                </a:rPr>
                <a:t>: goals align with that of students’</a:t>
              </a:r>
              <a:endParaRPr sz="1800">
                <a:solidFill>
                  <a:schemeClr val="lt1"/>
                </a:solidFill>
                <a:latin typeface="Nunito Sans"/>
                <a:ea typeface="Nunito Sans"/>
                <a:cs typeface="Nunito Sans"/>
                <a:sym typeface="Nunito Sans"/>
              </a:endParaRPr>
            </a:p>
          </p:txBody>
        </p:sp>
      </p:grpSp>
      <p:pic>
        <p:nvPicPr>
          <p:cNvPr id="71" name="Google Shape;71;p10" title="Screenshot 2026-04-01 at 13.33.26.png"/>
          <p:cNvPicPr preferRelativeResize="0"/>
          <p:nvPr/>
        </p:nvPicPr>
        <p:blipFill>
          <a:blip r:embed="rId3">
            <a:alphaModFix/>
          </a:blip>
          <a:stretch>
            <a:fillRect/>
          </a:stretch>
        </p:blipFill>
        <p:spPr>
          <a:xfrm>
            <a:off x="1579900" y="1403225"/>
            <a:ext cx="4802263" cy="4748701"/>
          </a:xfrm>
          <a:prstGeom prst="rect">
            <a:avLst/>
          </a:prstGeom>
          <a:noFill/>
          <a:ln>
            <a:noFill/>
          </a:ln>
        </p:spPr>
      </p:pic>
      <p:grpSp>
        <p:nvGrpSpPr>
          <p:cNvPr id="72" name="Google Shape;72;p10"/>
          <p:cNvGrpSpPr/>
          <p:nvPr/>
        </p:nvGrpSpPr>
        <p:grpSpPr>
          <a:xfrm>
            <a:off x="7337500" y="4566425"/>
            <a:ext cx="4016350" cy="790800"/>
            <a:chOff x="7456350" y="1165925"/>
            <a:chExt cx="4016350" cy="790800"/>
          </a:xfrm>
        </p:grpSpPr>
        <p:sp>
          <p:nvSpPr>
            <p:cNvPr id="73" name="Google Shape;73;p10"/>
            <p:cNvSpPr/>
            <p:nvPr/>
          </p:nvSpPr>
          <p:spPr>
            <a:xfrm>
              <a:off x="7456350" y="1403225"/>
              <a:ext cx="316200" cy="316200"/>
            </a:xfrm>
            <a:prstGeom prst="ellipse">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74" name="Google Shape;74;p10"/>
            <p:cNvSpPr txBox="1"/>
            <p:nvPr/>
          </p:nvSpPr>
          <p:spPr>
            <a:xfrm>
              <a:off x="7952200" y="1165925"/>
              <a:ext cx="3520500" cy="7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Nunito Sans"/>
                  <a:ea typeface="Nunito Sans"/>
                  <a:cs typeface="Nunito Sans"/>
                  <a:sym typeface="Nunito Sans"/>
                </a:rPr>
                <a:t>Prof. McKeen: client and direct advisor to AI-related policy changes, with high power and high interest</a:t>
              </a:r>
              <a:endParaRPr sz="1800">
                <a:solidFill>
                  <a:schemeClr val="lt1"/>
                </a:solidFill>
                <a:latin typeface="Nunito Sans"/>
                <a:ea typeface="Nunito Sans"/>
                <a:cs typeface="Nunito Sans"/>
                <a:sym typeface="Nunito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1"/>
          <p:cNvPicPr preferRelativeResize="0"/>
          <p:nvPr/>
        </p:nvPicPr>
        <p:blipFill>
          <a:blip r:embed="rId3">
            <a:alphaModFix/>
          </a:blip>
          <a:stretch>
            <a:fillRect/>
          </a:stretch>
        </p:blipFill>
        <p:spPr>
          <a:xfrm>
            <a:off x="3759275" y="158775"/>
            <a:ext cx="8335200" cy="1340375"/>
          </a:xfrm>
          <a:prstGeom prst="rect">
            <a:avLst/>
          </a:prstGeom>
          <a:noFill/>
          <a:ln>
            <a:noFill/>
          </a:ln>
        </p:spPr>
      </p:pic>
      <p:pic>
        <p:nvPicPr>
          <p:cNvPr id="80" name="Google Shape;80;p11"/>
          <p:cNvPicPr preferRelativeResize="0"/>
          <p:nvPr/>
        </p:nvPicPr>
        <p:blipFill>
          <a:blip r:embed="rId4">
            <a:alphaModFix/>
          </a:blip>
          <a:stretch>
            <a:fillRect/>
          </a:stretch>
        </p:blipFill>
        <p:spPr>
          <a:xfrm>
            <a:off x="3776962" y="1499150"/>
            <a:ext cx="2566325" cy="1278595"/>
          </a:xfrm>
          <a:prstGeom prst="rect">
            <a:avLst/>
          </a:prstGeom>
          <a:noFill/>
          <a:ln>
            <a:noFill/>
          </a:ln>
        </p:spPr>
      </p:pic>
      <p:pic>
        <p:nvPicPr>
          <p:cNvPr id="81" name="Google Shape;81;p11"/>
          <p:cNvPicPr preferRelativeResize="0"/>
          <p:nvPr/>
        </p:nvPicPr>
        <p:blipFill>
          <a:blip r:embed="rId5">
            <a:alphaModFix/>
          </a:blip>
          <a:stretch>
            <a:fillRect/>
          </a:stretch>
        </p:blipFill>
        <p:spPr>
          <a:xfrm>
            <a:off x="6658675" y="1499150"/>
            <a:ext cx="2566325" cy="1278600"/>
          </a:xfrm>
          <a:prstGeom prst="rect">
            <a:avLst/>
          </a:prstGeom>
          <a:noFill/>
          <a:ln>
            <a:noFill/>
          </a:ln>
        </p:spPr>
      </p:pic>
      <p:pic>
        <p:nvPicPr>
          <p:cNvPr id="82" name="Google Shape;82;p11"/>
          <p:cNvPicPr preferRelativeResize="0"/>
          <p:nvPr/>
        </p:nvPicPr>
        <p:blipFill>
          <a:blip r:embed="rId6">
            <a:alphaModFix/>
          </a:blip>
          <a:stretch>
            <a:fillRect/>
          </a:stretch>
        </p:blipFill>
        <p:spPr>
          <a:xfrm>
            <a:off x="9540374" y="1468263"/>
            <a:ext cx="2566327" cy="1340374"/>
          </a:xfrm>
          <a:prstGeom prst="rect">
            <a:avLst/>
          </a:prstGeom>
          <a:noFill/>
          <a:ln>
            <a:noFill/>
          </a:ln>
        </p:spPr>
      </p:pic>
      <p:pic>
        <p:nvPicPr>
          <p:cNvPr id="83" name="Google Shape;83;p11"/>
          <p:cNvPicPr preferRelativeResize="0"/>
          <p:nvPr/>
        </p:nvPicPr>
        <p:blipFill>
          <a:blip r:embed="rId7">
            <a:alphaModFix/>
          </a:blip>
          <a:stretch>
            <a:fillRect/>
          </a:stretch>
        </p:blipFill>
        <p:spPr>
          <a:xfrm>
            <a:off x="3786775" y="3066275"/>
            <a:ext cx="2566350" cy="3639326"/>
          </a:xfrm>
          <a:prstGeom prst="rect">
            <a:avLst/>
          </a:prstGeom>
          <a:noFill/>
          <a:ln>
            <a:noFill/>
          </a:ln>
        </p:spPr>
      </p:pic>
      <p:pic>
        <p:nvPicPr>
          <p:cNvPr id="84" name="Google Shape;84;p11"/>
          <p:cNvPicPr preferRelativeResize="0"/>
          <p:nvPr/>
        </p:nvPicPr>
        <p:blipFill>
          <a:blip r:embed="rId8">
            <a:alphaModFix/>
          </a:blip>
          <a:stretch>
            <a:fillRect/>
          </a:stretch>
        </p:blipFill>
        <p:spPr>
          <a:xfrm>
            <a:off x="1193175" y="158775"/>
            <a:ext cx="2293175" cy="1340375"/>
          </a:xfrm>
          <a:prstGeom prst="rect">
            <a:avLst/>
          </a:prstGeom>
          <a:noFill/>
          <a:ln>
            <a:noFill/>
          </a:ln>
        </p:spPr>
      </p:pic>
      <p:pic>
        <p:nvPicPr>
          <p:cNvPr id="85" name="Google Shape;85;p11"/>
          <p:cNvPicPr preferRelativeResize="0"/>
          <p:nvPr/>
        </p:nvPicPr>
        <p:blipFill>
          <a:blip r:embed="rId9">
            <a:alphaModFix/>
          </a:blip>
          <a:stretch>
            <a:fillRect/>
          </a:stretch>
        </p:blipFill>
        <p:spPr>
          <a:xfrm>
            <a:off x="1218275" y="1666963"/>
            <a:ext cx="2293175" cy="1340375"/>
          </a:xfrm>
          <a:prstGeom prst="rect">
            <a:avLst/>
          </a:prstGeom>
          <a:noFill/>
          <a:ln>
            <a:noFill/>
          </a:ln>
        </p:spPr>
      </p:pic>
      <p:pic>
        <p:nvPicPr>
          <p:cNvPr id="86" name="Google Shape;86;p11"/>
          <p:cNvPicPr preferRelativeResize="0"/>
          <p:nvPr/>
        </p:nvPicPr>
        <p:blipFill>
          <a:blip r:embed="rId10">
            <a:alphaModFix/>
          </a:blip>
          <a:stretch>
            <a:fillRect/>
          </a:stretch>
        </p:blipFill>
        <p:spPr>
          <a:xfrm>
            <a:off x="1218275" y="4215750"/>
            <a:ext cx="2293175" cy="1340375"/>
          </a:xfrm>
          <a:prstGeom prst="rect">
            <a:avLst/>
          </a:prstGeom>
          <a:noFill/>
          <a:ln>
            <a:noFill/>
          </a:ln>
        </p:spPr>
      </p:pic>
      <p:pic>
        <p:nvPicPr>
          <p:cNvPr id="87" name="Google Shape;87;p11"/>
          <p:cNvPicPr preferRelativeResize="0"/>
          <p:nvPr/>
        </p:nvPicPr>
        <p:blipFill>
          <a:blip r:embed="rId11">
            <a:alphaModFix/>
          </a:blip>
          <a:stretch>
            <a:fillRect/>
          </a:stretch>
        </p:blipFill>
        <p:spPr>
          <a:xfrm>
            <a:off x="6679738" y="3066275"/>
            <a:ext cx="2546300" cy="3639326"/>
          </a:xfrm>
          <a:prstGeom prst="rect">
            <a:avLst/>
          </a:prstGeom>
          <a:noFill/>
          <a:ln>
            <a:noFill/>
          </a:ln>
        </p:spPr>
      </p:pic>
      <p:pic>
        <p:nvPicPr>
          <p:cNvPr id="88" name="Google Shape;88;p11"/>
          <p:cNvPicPr preferRelativeResize="0"/>
          <p:nvPr/>
        </p:nvPicPr>
        <p:blipFill>
          <a:blip r:embed="rId12">
            <a:alphaModFix/>
          </a:blip>
          <a:stretch>
            <a:fillRect/>
          </a:stretch>
        </p:blipFill>
        <p:spPr>
          <a:xfrm>
            <a:off x="9552663" y="3029099"/>
            <a:ext cx="2541805" cy="37136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2"/>
          <p:cNvSpPr txBox="1"/>
          <p:nvPr>
            <p:ph type="title"/>
          </p:nvPr>
        </p:nvSpPr>
        <p:spPr>
          <a:xfrm>
            <a:off x="1461050" y="344764"/>
            <a:ext cx="9892800" cy="877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3000"/>
              <a:t>Establish a Gen AI Foundations course as a divisional requirement for all students.</a:t>
            </a:r>
            <a:endParaRPr b="1" sz="3000"/>
          </a:p>
        </p:txBody>
      </p:sp>
      <p:sp>
        <p:nvSpPr>
          <p:cNvPr id="94" name="Google Shape;94;p12"/>
          <p:cNvSpPr txBox="1"/>
          <p:nvPr>
            <p:ph idx="1" type="body"/>
          </p:nvPr>
        </p:nvSpPr>
        <p:spPr>
          <a:xfrm>
            <a:off x="952500" y="1345550"/>
            <a:ext cx="11239500" cy="5258400"/>
          </a:xfrm>
          <a:prstGeom prst="rect">
            <a:avLst/>
          </a:prstGeom>
        </p:spPr>
        <p:txBody>
          <a:bodyPr anchorCtr="0" anchor="t" bIns="45700" lIns="91425" spcFirstLastPara="1" rIns="91425" wrap="square" tIns="45700">
            <a:normAutofit fontScale="62500" lnSpcReduction="20000"/>
          </a:bodyPr>
          <a:lstStyle/>
          <a:p>
            <a:pPr indent="0" lvl="0" marL="457200" rtl="0" algn="l">
              <a:spcBef>
                <a:spcPts val="1000"/>
              </a:spcBef>
              <a:spcAft>
                <a:spcPts val="0"/>
              </a:spcAft>
              <a:buNone/>
            </a:pPr>
            <a:r>
              <a:rPr b="1" lang="en-US" sz="3817"/>
              <a:t>Key Points</a:t>
            </a:r>
            <a:endParaRPr b="1" sz="3817"/>
          </a:p>
          <a:p>
            <a:pPr indent="457200" lvl="0" marL="457200" rtl="0" algn="l">
              <a:spcBef>
                <a:spcPts val="1000"/>
              </a:spcBef>
              <a:spcAft>
                <a:spcPts val="0"/>
              </a:spcAft>
              <a:buNone/>
            </a:pPr>
            <a:r>
              <a:rPr lang="en-US" sz="3539"/>
              <a:t>Credit-bearing </a:t>
            </a:r>
            <a:r>
              <a:rPr lang="en-US" sz="3539"/>
              <a:t>requirement</a:t>
            </a:r>
            <a:r>
              <a:rPr lang="en-US" sz="3539"/>
              <a:t> for all students</a:t>
            </a:r>
            <a:endParaRPr sz="3539"/>
          </a:p>
          <a:p>
            <a:pPr indent="457200" lvl="0" marL="457200" rtl="0" algn="l">
              <a:spcBef>
                <a:spcPts val="1000"/>
              </a:spcBef>
              <a:spcAft>
                <a:spcPts val="0"/>
              </a:spcAft>
              <a:buNone/>
            </a:pPr>
            <a:r>
              <a:rPr lang="en-US" sz="3539"/>
              <a:t>Business School </a:t>
            </a:r>
            <a:r>
              <a:rPr lang="en-US" sz="3539"/>
              <a:t>Prerequisite</a:t>
            </a:r>
            <a:endParaRPr sz="3539"/>
          </a:p>
          <a:p>
            <a:pPr indent="457200" lvl="0" marL="457200" rtl="0" algn="l">
              <a:spcBef>
                <a:spcPts val="1000"/>
              </a:spcBef>
              <a:spcAft>
                <a:spcPts val="0"/>
              </a:spcAft>
              <a:buNone/>
            </a:pPr>
            <a:r>
              <a:rPr lang="en-US" sz="3539"/>
              <a:t>Standards for ethics, disclosure &amp; appropriate use</a:t>
            </a:r>
            <a:endParaRPr sz="3539"/>
          </a:p>
          <a:p>
            <a:pPr indent="0" lvl="0" marL="914400" rtl="0" algn="l">
              <a:lnSpc>
                <a:spcPct val="20000"/>
              </a:lnSpc>
              <a:spcBef>
                <a:spcPts val="1000"/>
              </a:spcBef>
              <a:spcAft>
                <a:spcPts val="0"/>
              </a:spcAft>
              <a:buNone/>
            </a:pPr>
            <a:r>
              <a:t/>
            </a:r>
            <a:endParaRPr sz="3539"/>
          </a:p>
          <a:p>
            <a:pPr indent="0" lvl="0" marL="457200" rtl="0" algn="l">
              <a:spcBef>
                <a:spcPts val="1000"/>
              </a:spcBef>
              <a:spcAft>
                <a:spcPts val="0"/>
              </a:spcAft>
              <a:buNone/>
            </a:pPr>
            <a:r>
              <a:rPr b="1" lang="en-US" sz="3650"/>
              <a:t>Why This Matters</a:t>
            </a:r>
            <a:endParaRPr b="1" sz="3650"/>
          </a:p>
          <a:p>
            <a:pPr indent="457200" lvl="0" marL="457200" rtl="0" algn="l">
              <a:spcBef>
                <a:spcPts val="1000"/>
              </a:spcBef>
              <a:spcAft>
                <a:spcPts val="0"/>
              </a:spcAft>
              <a:buNone/>
            </a:pPr>
            <a:r>
              <a:rPr lang="en-US" sz="3500"/>
              <a:t>~35% report avoiding AI over academic honesty fears</a:t>
            </a:r>
            <a:endParaRPr sz="3500"/>
          </a:p>
          <a:p>
            <a:pPr indent="0" lvl="0" marL="914400" rtl="0" algn="l">
              <a:spcBef>
                <a:spcPts val="1000"/>
              </a:spcBef>
              <a:spcAft>
                <a:spcPts val="0"/>
              </a:spcAft>
              <a:buNone/>
            </a:pPr>
            <a:r>
              <a:rPr lang="en-US" sz="3500"/>
              <a:t>~25% report being unsure when AI use is allowed</a:t>
            </a:r>
            <a:endParaRPr sz="4041"/>
          </a:p>
          <a:p>
            <a:pPr indent="0" lvl="0" marL="457200" rtl="0" algn="l">
              <a:spcBef>
                <a:spcPts val="1000"/>
              </a:spcBef>
              <a:spcAft>
                <a:spcPts val="0"/>
              </a:spcAft>
              <a:buNone/>
            </a:pPr>
            <a:r>
              <a:t/>
            </a:r>
            <a:endParaRPr b="1" sz="3500"/>
          </a:p>
          <a:p>
            <a:pPr indent="0" lvl="0" marL="457200" rtl="0" algn="l">
              <a:spcBef>
                <a:spcPts val="1000"/>
              </a:spcBef>
              <a:spcAft>
                <a:spcPts val="0"/>
              </a:spcAft>
              <a:buNone/>
            </a:pPr>
            <a:r>
              <a:rPr b="1" lang="en-US" sz="3500"/>
              <a:t>Students indicated demand for (n=349): </a:t>
            </a:r>
            <a:endParaRPr b="1" sz="3500"/>
          </a:p>
          <a:p>
            <a:pPr indent="0" lvl="0" marL="457200" rtl="0" algn="l">
              <a:spcBef>
                <a:spcPts val="1000"/>
              </a:spcBef>
              <a:spcAft>
                <a:spcPts val="0"/>
              </a:spcAft>
              <a:buNone/>
            </a:pPr>
            <a:r>
              <a:rPr lang="en-US" sz="3340"/>
              <a:t>Guidelines from professors (190) | AI verification training (157) | Prompting support (137)</a:t>
            </a:r>
            <a:endParaRPr sz="3340"/>
          </a:p>
          <a:p>
            <a:pPr indent="0" lvl="0" marL="0" rtl="0" algn="l">
              <a:spcBef>
                <a:spcPts val="1000"/>
              </a:spcBef>
              <a:spcAft>
                <a:spcPts val="0"/>
              </a:spcAft>
              <a:buNone/>
            </a:pPr>
            <a:r>
              <a:t/>
            </a:r>
            <a:endParaRPr sz="4041"/>
          </a:p>
          <a:p>
            <a:pPr indent="0" lvl="0" marL="0" rtl="0" algn="ctr">
              <a:spcBef>
                <a:spcPts val="1000"/>
              </a:spcBef>
              <a:spcAft>
                <a:spcPts val="0"/>
              </a:spcAft>
              <a:buNone/>
            </a:pPr>
            <a:r>
              <a:rPr b="1" i="1" lang="en-US" sz="4086">
                <a:solidFill>
                  <a:schemeClr val="dk1"/>
                </a:solidFill>
              </a:rPr>
              <a:t>Remove ambiguity. Align student and faculty expectations.</a:t>
            </a:r>
            <a:endParaRPr b="1" i="1" sz="4086">
              <a:solidFill>
                <a:schemeClr val="dk1"/>
              </a:solidFill>
            </a:endParaRPr>
          </a:p>
          <a:p>
            <a:pPr indent="0" lvl="0" marL="0" rtl="0" algn="ctr">
              <a:spcBef>
                <a:spcPts val="1000"/>
              </a:spcBef>
              <a:spcAft>
                <a:spcPts val="0"/>
              </a:spcAft>
              <a:buNone/>
            </a:pPr>
            <a:r>
              <a:t/>
            </a:r>
            <a:endParaRPr b="1" i="1" sz="318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3"/>
          <p:cNvSpPr txBox="1"/>
          <p:nvPr>
            <p:ph idx="1" type="body"/>
          </p:nvPr>
        </p:nvSpPr>
        <p:spPr>
          <a:xfrm>
            <a:off x="1461050" y="1401426"/>
            <a:ext cx="9892800" cy="52140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b="1" lang="en-US" sz="1900"/>
              <a:t>Key Points</a:t>
            </a:r>
            <a:endParaRPr b="1" sz="1900"/>
          </a:p>
          <a:p>
            <a:pPr indent="0" lvl="0" marL="457200" rtl="0" algn="l">
              <a:lnSpc>
                <a:spcPct val="100000"/>
              </a:lnSpc>
              <a:spcBef>
                <a:spcPts val="1000"/>
              </a:spcBef>
              <a:spcAft>
                <a:spcPts val="0"/>
              </a:spcAft>
              <a:buNone/>
            </a:pPr>
            <a:r>
              <a:rPr lang="en-US" sz="1900"/>
              <a:t>Required, credit-bearing course for all business school students depending on their	major</a:t>
            </a:r>
            <a:endParaRPr sz="1900"/>
          </a:p>
          <a:p>
            <a:pPr indent="457200" lvl="0" marL="0" rtl="0" algn="l">
              <a:lnSpc>
                <a:spcPct val="100000"/>
              </a:lnSpc>
              <a:spcBef>
                <a:spcPts val="1000"/>
              </a:spcBef>
              <a:spcAft>
                <a:spcPts val="0"/>
              </a:spcAft>
              <a:buNone/>
            </a:pPr>
            <a:r>
              <a:rPr lang="en-US" sz="1900"/>
              <a:t>Prepare students for using AI in their entry level job </a:t>
            </a:r>
            <a:endParaRPr sz="1900"/>
          </a:p>
          <a:p>
            <a:pPr indent="457200" lvl="0" marL="0" rtl="0" algn="l">
              <a:lnSpc>
                <a:spcPct val="100000"/>
              </a:lnSpc>
              <a:spcBef>
                <a:spcPts val="1000"/>
              </a:spcBef>
              <a:spcAft>
                <a:spcPts val="0"/>
              </a:spcAft>
              <a:buNone/>
            </a:pPr>
            <a:r>
              <a:rPr lang="en-US" sz="1900"/>
              <a:t>Tailored towards that field’s necessary skills</a:t>
            </a:r>
            <a:endParaRPr sz="1900"/>
          </a:p>
          <a:p>
            <a:pPr indent="0" lvl="0" marL="0" rtl="0" algn="l">
              <a:spcBef>
                <a:spcPts val="1000"/>
              </a:spcBef>
              <a:spcAft>
                <a:spcPts val="0"/>
              </a:spcAft>
              <a:buNone/>
            </a:pPr>
            <a:r>
              <a:rPr b="1" lang="en-US" sz="1900"/>
              <a:t>Why This Matters</a:t>
            </a:r>
            <a:endParaRPr sz="1900"/>
          </a:p>
          <a:p>
            <a:pPr indent="0" lvl="0" marL="457200" rtl="0" algn="l">
              <a:lnSpc>
                <a:spcPct val="100000"/>
              </a:lnSpc>
              <a:spcBef>
                <a:spcPts val="1000"/>
              </a:spcBef>
              <a:spcAft>
                <a:spcPts val="0"/>
              </a:spcAft>
              <a:buNone/>
            </a:pPr>
            <a:r>
              <a:rPr lang="en-US" sz="1900"/>
              <a:t>~82% report belief that Gen AI will affect their professional roles after graduation and 78% feel prepared </a:t>
            </a:r>
            <a:endParaRPr sz="1900"/>
          </a:p>
          <a:p>
            <a:pPr indent="0" lvl="0" marL="457200" rtl="0" algn="l">
              <a:lnSpc>
                <a:spcPct val="100000"/>
              </a:lnSpc>
              <a:spcBef>
                <a:spcPts val="1000"/>
              </a:spcBef>
              <a:spcAft>
                <a:spcPts val="0"/>
              </a:spcAft>
              <a:buNone/>
            </a:pPr>
            <a:r>
              <a:rPr lang="en-US" sz="1900"/>
              <a:t>Q27: “I think we need to be trained on how to use it so that we can be prepared for the world, but we should never rely on it for learning.”</a:t>
            </a:r>
            <a:endParaRPr sz="1900"/>
          </a:p>
          <a:p>
            <a:pPr indent="0" lvl="0" marL="457200" rtl="0" algn="l">
              <a:lnSpc>
                <a:spcPct val="100000"/>
              </a:lnSpc>
              <a:spcBef>
                <a:spcPts val="1000"/>
              </a:spcBef>
              <a:spcAft>
                <a:spcPts val="0"/>
              </a:spcAft>
              <a:buNone/>
            </a:pPr>
            <a:r>
              <a:rPr lang="en-US" sz="1900"/>
              <a:t>Q27: “It’s the future of our world and if you don’t embrace the change, you will get left behind… Everyone will use it in their jobs after college, so we should start preparing now.”</a:t>
            </a:r>
            <a:endParaRPr sz="1900"/>
          </a:p>
          <a:p>
            <a:pPr indent="0" lvl="0" marL="0" rtl="0" algn="l">
              <a:spcBef>
                <a:spcPts val="1000"/>
              </a:spcBef>
              <a:spcAft>
                <a:spcPts val="0"/>
              </a:spcAft>
              <a:buNone/>
            </a:pPr>
            <a:r>
              <a:rPr b="1" lang="en-US" sz="1900"/>
              <a:t>Peer Institution Data</a:t>
            </a:r>
            <a:endParaRPr sz="1900"/>
          </a:p>
          <a:p>
            <a:pPr indent="0" lvl="0" marL="457200" rtl="0" algn="l">
              <a:spcBef>
                <a:spcPts val="1000"/>
              </a:spcBef>
              <a:spcAft>
                <a:spcPts val="0"/>
              </a:spcAft>
              <a:buNone/>
            </a:pPr>
            <a:r>
              <a:rPr lang="en-US" sz="1900"/>
              <a:t>Nationally (IHE 2025): only 16% of students think AI preparation should be left to individual professors </a:t>
            </a:r>
            <a:endParaRPr b="1" sz="1900"/>
          </a:p>
        </p:txBody>
      </p:sp>
      <p:sp>
        <p:nvSpPr>
          <p:cNvPr id="100" name="Google Shape;100;p13"/>
          <p:cNvSpPr txBox="1"/>
          <p:nvPr>
            <p:ph type="title"/>
          </p:nvPr>
        </p:nvSpPr>
        <p:spPr>
          <a:xfrm>
            <a:off x="1461050" y="344764"/>
            <a:ext cx="9892800" cy="877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3000"/>
              <a:t>Complement the divisional requirement with a major-specific AI course embedded in every program's curriculum.</a:t>
            </a:r>
            <a:endParaRPr sz="3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461050" y="344764"/>
            <a:ext cx="9892800" cy="877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3000"/>
              <a:t>Frame the two-course structure, divisional plus major-specific, as a marketable, credentialed competency.</a:t>
            </a:r>
            <a:endParaRPr b="1" sz="3000"/>
          </a:p>
        </p:txBody>
      </p:sp>
      <p:sp>
        <p:nvSpPr>
          <p:cNvPr id="106" name="Google Shape;106;p14"/>
          <p:cNvSpPr txBox="1"/>
          <p:nvPr>
            <p:ph idx="1" type="body"/>
          </p:nvPr>
        </p:nvSpPr>
        <p:spPr>
          <a:xfrm>
            <a:off x="1461050" y="1401417"/>
            <a:ext cx="9892800" cy="47754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1900"/>
              <a:t>Key Points</a:t>
            </a:r>
            <a:endParaRPr sz="1900"/>
          </a:p>
          <a:p>
            <a:pPr indent="457200" lvl="0" marL="0" rtl="0" algn="l">
              <a:spcBef>
                <a:spcPts val="1000"/>
              </a:spcBef>
              <a:spcAft>
                <a:spcPts val="0"/>
              </a:spcAft>
              <a:buNone/>
            </a:pPr>
            <a:r>
              <a:rPr lang="en-US" sz="1900"/>
              <a:t>Signal to employers that graduates meet a defined proficiency standard</a:t>
            </a:r>
            <a:endParaRPr sz="1900"/>
          </a:p>
          <a:p>
            <a:pPr indent="457200" lvl="0" marL="0" rtl="0" algn="l">
              <a:spcBef>
                <a:spcPts val="1000"/>
              </a:spcBef>
              <a:spcAft>
                <a:spcPts val="0"/>
              </a:spcAft>
              <a:buNone/>
            </a:pPr>
            <a:r>
              <a:rPr lang="en-US" sz="1900"/>
              <a:t>Position Wake Forest as a leader in graduate workforce readiness</a:t>
            </a:r>
            <a:endParaRPr b="1" sz="1900"/>
          </a:p>
          <a:p>
            <a:pPr indent="0" lvl="0" marL="0" rtl="0" algn="l">
              <a:spcBef>
                <a:spcPts val="1000"/>
              </a:spcBef>
              <a:spcAft>
                <a:spcPts val="0"/>
              </a:spcAft>
              <a:buNone/>
            </a:pPr>
            <a:r>
              <a:rPr b="1" lang="en-US" sz="1900"/>
              <a:t>Why This Matters</a:t>
            </a:r>
            <a:endParaRPr b="1" sz="1900"/>
          </a:p>
          <a:p>
            <a:pPr indent="0" lvl="0" marL="457200" rtl="0" algn="l">
              <a:spcBef>
                <a:spcPts val="1000"/>
              </a:spcBef>
              <a:spcAft>
                <a:spcPts val="0"/>
              </a:spcAft>
              <a:buClr>
                <a:schemeClr val="dk2"/>
              </a:buClr>
              <a:buSzPts val="1100"/>
              <a:buFont typeface="Arial"/>
              <a:buNone/>
            </a:pPr>
            <a:r>
              <a:rPr lang="en-US" sz="1900"/>
              <a:t>~</a:t>
            </a:r>
            <a:r>
              <a:rPr lang="en-US" sz="1900"/>
              <a:t>82% students report a belief that AI will affect their professional roles</a:t>
            </a:r>
            <a:endParaRPr sz="1900"/>
          </a:p>
          <a:p>
            <a:pPr indent="0" lvl="0" marL="457200" rtl="0" algn="l">
              <a:spcBef>
                <a:spcPts val="1000"/>
              </a:spcBef>
              <a:spcAft>
                <a:spcPts val="0"/>
              </a:spcAft>
              <a:buClr>
                <a:schemeClr val="dk2"/>
              </a:buClr>
              <a:buSzPts val="1100"/>
              <a:buFont typeface="Arial"/>
              <a:buNone/>
            </a:pPr>
            <a:r>
              <a:rPr lang="en-US" sz="1900"/>
              <a:t>The World Economic Forum's 2025 Skills Report found that 74% of employers prefer candidates with verified digital skills credentials for AI-related roles </a:t>
            </a:r>
            <a:endParaRPr sz="1900"/>
          </a:p>
          <a:p>
            <a:pPr indent="0" lvl="0" marL="0" rtl="0" algn="l">
              <a:spcBef>
                <a:spcPts val="1000"/>
              </a:spcBef>
              <a:spcAft>
                <a:spcPts val="0"/>
              </a:spcAft>
              <a:buClr>
                <a:schemeClr val="dk2"/>
              </a:buClr>
              <a:buSzPts val="1100"/>
              <a:buFont typeface="Arial"/>
              <a:buNone/>
            </a:pPr>
            <a:r>
              <a:rPr b="1" lang="en-US" sz="1900"/>
              <a:t>Peer Institution Data</a:t>
            </a:r>
            <a:endParaRPr sz="1900"/>
          </a:p>
          <a:p>
            <a:pPr indent="0" lvl="0" marL="457200" rtl="0" algn="l">
              <a:spcBef>
                <a:spcPts val="1000"/>
              </a:spcBef>
              <a:spcAft>
                <a:spcPts val="0"/>
              </a:spcAft>
              <a:buNone/>
            </a:pPr>
            <a:r>
              <a:rPr lang="en-US" sz="1900"/>
              <a:t>UNC AI Usage Survey: 79% of UNC staff agreed that developing AI skills would make them more marketable throughout their careers</a:t>
            </a:r>
            <a:endParaRPr sz="1900"/>
          </a:p>
          <a:p>
            <a:pPr indent="0" lvl="0" marL="0" rtl="0" algn="l">
              <a:spcBef>
                <a:spcPts val="1000"/>
              </a:spcBef>
              <a:spcAft>
                <a:spcPts val="0"/>
              </a:spcAft>
              <a:buNone/>
            </a:pPr>
            <a:r>
              <a:t/>
            </a:r>
            <a:endParaRPr b="1" sz="1900"/>
          </a:p>
          <a:p>
            <a:pPr indent="0" lvl="0" marL="0" rtl="0" algn="ctr">
              <a:spcBef>
                <a:spcPts val="1000"/>
              </a:spcBef>
              <a:spcAft>
                <a:spcPts val="0"/>
              </a:spcAft>
              <a:buNone/>
            </a:pPr>
            <a:r>
              <a:rPr b="1" i="1" lang="en-US" sz="1900">
                <a:solidFill>
                  <a:schemeClr val="dk1"/>
                </a:solidFill>
              </a:rPr>
              <a:t>Q27: “My job after graduation specifically asked me how I use AI, and I believe that being “AI-fluent” will be one of the most important skills a student can have going forward.”</a:t>
            </a:r>
            <a:endParaRPr b="1"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0" name="Shape 110"/>
        <p:cNvGrpSpPr/>
        <p:nvPr/>
      </p:nvGrpSpPr>
      <p:grpSpPr>
        <a:xfrm>
          <a:off x="0" y="0"/>
          <a:ext cx="0" cy="0"/>
          <a:chOff x="0" y="0"/>
          <a:chExt cx="0" cy="0"/>
        </a:xfrm>
      </p:grpSpPr>
      <p:pic>
        <p:nvPicPr>
          <p:cNvPr id="111" name="Google Shape;111;p15"/>
          <p:cNvPicPr preferRelativeResize="0"/>
          <p:nvPr/>
        </p:nvPicPr>
        <p:blipFill>
          <a:blip r:embed="rId3">
            <a:alphaModFix/>
          </a:blip>
          <a:stretch>
            <a:fillRect/>
          </a:stretch>
        </p:blipFill>
        <p:spPr>
          <a:xfrm>
            <a:off x="1271712" y="0"/>
            <a:ext cx="9648576" cy="68580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5" name="Shape 115"/>
        <p:cNvGrpSpPr/>
        <p:nvPr/>
      </p:nvGrpSpPr>
      <p:grpSpPr>
        <a:xfrm>
          <a:off x="0" y="0"/>
          <a:ext cx="0" cy="0"/>
          <a:chOff x="0" y="0"/>
          <a:chExt cx="0" cy="0"/>
        </a:xfrm>
      </p:grpSpPr>
      <p:pic>
        <p:nvPicPr>
          <p:cNvPr id="116" name="Google Shape;116;p16"/>
          <p:cNvPicPr preferRelativeResize="0"/>
          <p:nvPr/>
        </p:nvPicPr>
        <p:blipFill>
          <a:blip r:embed="rId3">
            <a:alphaModFix/>
          </a:blip>
          <a:stretch>
            <a:fillRect/>
          </a:stretch>
        </p:blipFill>
        <p:spPr>
          <a:xfrm>
            <a:off x="1240337" y="0"/>
            <a:ext cx="9711324" cy="6858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17"/>
          <p:cNvPicPr preferRelativeResize="0"/>
          <p:nvPr/>
        </p:nvPicPr>
        <p:blipFill>
          <a:blip r:embed="rId3">
            <a:alphaModFix/>
          </a:blip>
          <a:stretch>
            <a:fillRect/>
          </a:stretch>
        </p:blipFill>
        <p:spPr>
          <a:xfrm>
            <a:off x="164250" y="0"/>
            <a:ext cx="11969126" cy="6857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title"/>
          </p:nvPr>
        </p:nvSpPr>
        <p:spPr>
          <a:xfrm>
            <a:off x="1245625" y="2990389"/>
            <a:ext cx="9892800" cy="877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
      <a:dk1>
        <a:srgbClr val="A38342"/>
      </a:dk1>
      <a:lt1>
        <a:srgbClr val="FFFFFF"/>
      </a:lt1>
      <a:dk2>
        <a:srgbClr val="000000"/>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