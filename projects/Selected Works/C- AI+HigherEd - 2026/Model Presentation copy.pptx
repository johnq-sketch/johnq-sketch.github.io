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Cormorant Medium"/>
      <p:regular r:id="rId15"/>
      <p:bold r:id="rId16"/>
      <p:italic r:id="rId17"/>
      <p:boldItalic r:id="rId18"/>
    </p:embeddedFont>
    <p:embeddedFont>
      <p:font typeface="Cormorant"/>
      <p:regular r:id="rId19"/>
      <p:bold r:id="rId20"/>
      <p:italic r:id="rId21"/>
      <p:boldItalic r:id="rId22"/>
    </p:embeddedFont>
    <p:embeddedFont>
      <p:font typeface="Nunito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ormorant-bold.fntdata"/><Relationship Id="rId22" Type="http://schemas.openxmlformats.org/officeDocument/2006/relationships/font" Target="fonts/Cormorant-boldItalic.fntdata"/><Relationship Id="rId21" Type="http://schemas.openxmlformats.org/officeDocument/2006/relationships/font" Target="fonts/Cormorant-italic.fntdata"/><Relationship Id="rId24" Type="http://schemas.openxmlformats.org/officeDocument/2006/relationships/font" Target="fonts/NunitoSans-bold.fntdata"/><Relationship Id="rId23" Type="http://schemas.openxmlformats.org/officeDocument/2006/relationships/font" Target="fonts/Nunito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unitoSans-boldItalic.fntdata"/><Relationship Id="rId25" Type="http://schemas.openxmlformats.org/officeDocument/2006/relationships/font" Target="fonts/Nunito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CormorantMedium-regular.fntdata"/><Relationship Id="rId14" Type="http://schemas.openxmlformats.org/officeDocument/2006/relationships/slide" Target="slides/slide10.xml"/><Relationship Id="rId17" Type="http://schemas.openxmlformats.org/officeDocument/2006/relationships/font" Target="fonts/CormorantMedium-italic.fntdata"/><Relationship Id="rId16" Type="http://schemas.openxmlformats.org/officeDocument/2006/relationships/font" Target="fonts/CormorantMedium-bold.fntdata"/><Relationship Id="rId19" Type="http://schemas.openxmlformats.org/officeDocument/2006/relationships/font" Target="fonts/Cormorant-regular.fntdata"/><Relationship Id="rId18" Type="http://schemas.openxmlformats.org/officeDocument/2006/relationships/font" Target="fonts/Cormoran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d1715bf7f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d1715bf7f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bg debrief, and our approach (30s)</a:t>
            </a:r>
            <a:br>
              <a:rPr lang="en-US"/>
            </a:br>
            <a:br>
              <a:rPr lang="en-US"/>
            </a:br>
            <a:r>
              <a:rPr lang="en-US"/>
              <a:t>To recap - data collected, AI policy </a:t>
            </a:r>
            <a:endParaRPr/>
          </a:p>
          <a:p>
            <a:pPr indent="0" lvl="0" marL="0" rtl="0" algn="l">
              <a:spcBef>
                <a:spcPts val="0"/>
              </a:spcBef>
              <a:spcAft>
                <a:spcPts val="0"/>
              </a:spcAft>
              <a:buNone/>
            </a:pPr>
            <a:r>
              <a:rPr lang="en-US"/>
              <a:t>Client need - translated to our approach</a:t>
            </a:r>
            <a:br>
              <a:rPr lang="en-US"/>
            </a:br>
            <a:r>
              <a:rPr lang="en-US"/>
              <a:t>Other than building the model, the other critical underlying idea imbedded in our model is to establish a replicable framework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1715bf7ff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d1715bf7f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what we did to set up the model (~40s)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1715bf7ff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d1715bf7f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goals, client report priorities (~40s)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15a68d3de_0_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3d15a68d3de_0_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section presents findings from the Likert scale survey questions, which 349 business school students answered, examining their self-reported attitudes toward Generative AI across three domains: academic integrity, critical thinking, and workforce readiness.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a:solidFill>
                  <a:schemeClr val="dk1"/>
                </a:solidFill>
              </a:rPr>
              <a:t>It is important to note responses are self-reported, which introduces potential bias such as students answering in ways they perceive as socially acceptable rather than fully accurate. with that in mind, we interpret the results as indicative of general trends in student behavior. </a:t>
            </a:r>
            <a:endParaRPr/>
          </a:p>
        </p:txBody>
      </p:sp>
      <p:sp>
        <p:nvSpPr>
          <p:cNvPr id="75" name="Google Shape;75;g3d15a68d3de_0_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slide presents student-reported attitudes toward Gen AI in the context of academic integrity, surveyed across five items.</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 The standout finding is that a strong majority of students report knowing how to use Gen AI while respecting the Honor Code, with roughly 73% agreeing or strongly agreeing. This suggests a notable degree of self-reported confidence around ethical use</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At the same time, uncertainty about when it is acceptable to use Gen AI tools is widespread. Just over 25% of students reported feeling unsure when it iz and approximately 35% report they  avoid using it to prevent dishonesty, which points to a gap between self-assessed competence and clarity around institutional norms.</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These patterns raise important questions about whether students are receiving sufficient, consistent guidance on acceptable use.</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17" name="Google Shape;11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0f14d39c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0f14d39c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slide examines how students perceive Gen AI's effect on their critical thinking and learning processes across six items.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Students demonstrate relatively high confidence in understanding when and how to use Gen AI appropriately. Approximately 70% agree they understand when it is appropriate for coursework, and a similar proportion feel confident in their prompting skills — suggesting Al literacy is fairly widespread in this sample.</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However,  A meaningful share of students agreed that Gen AI can be </a:t>
            </a:r>
            <a:r>
              <a:rPr lang="en-US" sz="1200">
                <a:solidFill>
                  <a:schemeClr val="dk1"/>
                </a:solidFill>
                <a:latin typeface="Calibri"/>
                <a:ea typeface="Calibri"/>
                <a:cs typeface="Calibri"/>
                <a:sym typeface="Calibri"/>
              </a:rPr>
              <a:t>detrimental</a:t>
            </a:r>
            <a:r>
              <a:rPr lang="en-US" sz="1200">
                <a:solidFill>
                  <a:schemeClr val="dk1"/>
                </a:solidFill>
                <a:latin typeface="Calibri"/>
                <a:ea typeface="Calibri"/>
                <a:cs typeface="Calibri"/>
                <a:sym typeface="Calibri"/>
              </a:rPr>
              <a:t> to their learning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students appear to see Gen AI as a useful tool, but many are still working out how to engage with it in ways that preserve the integrity of their own learning.</a:t>
            </a: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0f14d39c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0f14d39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final slide presents student attitudes toward Gen AI and their post-graduation professional readiness, assessed across three items.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Overall, these </a:t>
            </a:r>
            <a:r>
              <a:rPr lang="en-US" sz="1200">
                <a:solidFill>
                  <a:schemeClr val="dk1"/>
                </a:solidFill>
                <a:latin typeface="Calibri"/>
                <a:ea typeface="Calibri"/>
                <a:cs typeface="Calibri"/>
                <a:sym typeface="Calibri"/>
              </a:rPr>
              <a:t>items suggest that business school students are aware of Gen AI’s role in their future, and they largely feel prepared to meet it.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these three domains reveal collectively is a student population that is largely confident in their Gen AI literacy, but operating in an environment where institutional norms and faculty expectations not yet fully caught up. </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0e91ae47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0e91ae47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For our sentiment analysis, we decided to use </a:t>
            </a:r>
            <a:r>
              <a:rPr lang="en-US"/>
              <a:t>RStudio’s</a:t>
            </a:r>
            <a:r>
              <a:rPr lang="en-US"/>
              <a:t> sentimentr library to analyze the open ended questions on the survey.</a:t>
            </a:r>
            <a:endParaRPr/>
          </a:p>
          <a:p>
            <a:pPr indent="0" lvl="0" marL="0" rtl="0" algn="l">
              <a:spcBef>
                <a:spcPts val="0"/>
              </a:spcBef>
              <a:spcAft>
                <a:spcPts val="0"/>
              </a:spcAft>
              <a:buNone/>
            </a:pPr>
            <a:r>
              <a:rPr lang="en-US"/>
              <a:t>Q27: “What role do you think AI should play in higher education”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Positive example:</a:t>
            </a:r>
            <a:r>
              <a:rPr lang="en-US"/>
              <a:t> “A way of quickly bringing up potential sources, or help with brainstorming, proofreading, and finding synonyms”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Negative example: “None, I think it should be banned completely”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Notes</a:t>
            </a:r>
            <a:r>
              <a:rPr lang="en-US"/>
              <a:t>: redo with respect to business school students for SA, look at word cloud, and come up with </a:t>
            </a:r>
            <a:r>
              <a:rPr lang="en-US"/>
              <a:t>recommendations</a:t>
            </a:r>
            <a:r>
              <a:rPr lang="en-US"/>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15a68d3de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15a68d3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2395870" y="15488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ormorant"/>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2395870" y="4646428"/>
            <a:ext cx="9144000" cy="36512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1600"/>
              <a:buNone/>
              <a:defRPr sz="1600" cap="none">
                <a:solidFill>
                  <a:schemeClr val="dk1"/>
                </a:solidFill>
                <a:latin typeface="Nunito Sans"/>
                <a:ea typeface="Nunito Sans"/>
                <a:cs typeface="Nunito Sans"/>
                <a:sym typeface="Nunito Sans"/>
              </a:defRPr>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2395870" y="6356349"/>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624227" y="6356348"/>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847034" y="6356348"/>
            <a:ext cx="269283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 name="Google Shape;17;p2"/>
          <p:cNvSpPr txBox="1"/>
          <p:nvPr>
            <p:ph idx="2" type="body"/>
          </p:nvPr>
        </p:nvSpPr>
        <p:spPr>
          <a:xfrm>
            <a:off x="2395870" y="5091682"/>
            <a:ext cx="9144000" cy="4349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Font typeface="Cormorant"/>
              <a:buNone/>
              <a:defRPr sz="1800">
                <a:solidFill>
                  <a:schemeClr val="dk1"/>
                </a:solidFill>
                <a:latin typeface="Cormorant"/>
                <a:ea typeface="Cormorant"/>
                <a:cs typeface="Cormorant"/>
                <a:sym typeface="Cormorant"/>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body"/>
          </p:nvPr>
        </p:nvSpPr>
        <p:spPr>
          <a:xfrm>
            <a:off x="1461050" y="1401417"/>
            <a:ext cx="9892749" cy="47755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1463560" y="1736726"/>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ormorant"/>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146356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BFAD91"/>
              </a:buClr>
              <a:buSzPts val="2400"/>
              <a:buNone/>
              <a:defRPr sz="2400">
                <a:solidFill>
                  <a:srgbClr val="BFAD91"/>
                </a:solidFill>
              </a:defRPr>
            </a:lvl1pPr>
            <a:lvl2pPr indent="-228600" lvl="1" marL="914400" algn="l">
              <a:lnSpc>
                <a:spcPct val="90000"/>
              </a:lnSpc>
              <a:spcBef>
                <a:spcPts val="500"/>
              </a:spcBef>
              <a:spcAft>
                <a:spcPts val="0"/>
              </a:spcAft>
              <a:buClr>
                <a:srgbClr val="BFAD91"/>
              </a:buClr>
              <a:buSzPts val="2000"/>
              <a:buNone/>
              <a:defRPr sz="2000">
                <a:solidFill>
                  <a:srgbClr val="BFAD91"/>
                </a:solidFill>
              </a:defRPr>
            </a:lvl2pPr>
            <a:lvl3pPr indent="-228600" lvl="2" marL="1371600" algn="l">
              <a:lnSpc>
                <a:spcPct val="90000"/>
              </a:lnSpc>
              <a:spcBef>
                <a:spcPts val="500"/>
              </a:spcBef>
              <a:spcAft>
                <a:spcPts val="0"/>
              </a:spcAft>
              <a:buClr>
                <a:srgbClr val="BFAD91"/>
              </a:buClr>
              <a:buSzPts val="1800"/>
              <a:buNone/>
              <a:defRPr sz="1800">
                <a:solidFill>
                  <a:srgbClr val="BFAD91"/>
                </a:solidFill>
              </a:defRPr>
            </a:lvl3pPr>
            <a:lvl4pPr indent="-228600" lvl="3" marL="1828800" algn="l">
              <a:lnSpc>
                <a:spcPct val="90000"/>
              </a:lnSpc>
              <a:spcBef>
                <a:spcPts val="500"/>
              </a:spcBef>
              <a:spcAft>
                <a:spcPts val="0"/>
              </a:spcAft>
              <a:buClr>
                <a:srgbClr val="BFAD91"/>
              </a:buClr>
              <a:buSzPts val="1600"/>
              <a:buNone/>
              <a:defRPr sz="1600">
                <a:solidFill>
                  <a:srgbClr val="BFAD91"/>
                </a:solidFill>
              </a:defRPr>
            </a:lvl4pPr>
            <a:lvl5pPr indent="-228600" lvl="4" marL="2286000" algn="l">
              <a:lnSpc>
                <a:spcPct val="90000"/>
              </a:lnSpc>
              <a:spcBef>
                <a:spcPts val="500"/>
              </a:spcBef>
              <a:spcAft>
                <a:spcPts val="0"/>
              </a:spcAft>
              <a:buClr>
                <a:srgbClr val="BFAD91"/>
              </a:buClr>
              <a:buSzPts val="1600"/>
              <a:buNone/>
              <a:defRPr sz="1600">
                <a:solidFill>
                  <a:srgbClr val="BFAD91"/>
                </a:solidFill>
              </a:defRPr>
            </a:lvl5pPr>
            <a:lvl6pPr indent="-228600" lvl="5" marL="2743200" algn="l">
              <a:lnSpc>
                <a:spcPct val="90000"/>
              </a:lnSpc>
              <a:spcBef>
                <a:spcPts val="500"/>
              </a:spcBef>
              <a:spcAft>
                <a:spcPts val="0"/>
              </a:spcAft>
              <a:buClr>
                <a:srgbClr val="BFAD91"/>
              </a:buClr>
              <a:buSzPts val="1600"/>
              <a:buNone/>
              <a:defRPr sz="1600">
                <a:solidFill>
                  <a:srgbClr val="BFAD91"/>
                </a:solidFill>
              </a:defRPr>
            </a:lvl6pPr>
            <a:lvl7pPr indent="-228600" lvl="6" marL="3200400" algn="l">
              <a:lnSpc>
                <a:spcPct val="90000"/>
              </a:lnSpc>
              <a:spcBef>
                <a:spcPts val="500"/>
              </a:spcBef>
              <a:spcAft>
                <a:spcPts val="0"/>
              </a:spcAft>
              <a:buClr>
                <a:srgbClr val="BFAD91"/>
              </a:buClr>
              <a:buSzPts val="1600"/>
              <a:buNone/>
              <a:defRPr sz="1600">
                <a:solidFill>
                  <a:srgbClr val="BFAD91"/>
                </a:solidFill>
              </a:defRPr>
            </a:lvl7pPr>
            <a:lvl8pPr indent="-228600" lvl="7" marL="3657600" algn="l">
              <a:lnSpc>
                <a:spcPct val="90000"/>
              </a:lnSpc>
              <a:spcBef>
                <a:spcPts val="500"/>
              </a:spcBef>
              <a:spcAft>
                <a:spcPts val="0"/>
              </a:spcAft>
              <a:buClr>
                <a:srgbClr val="BFAD91"/>
              </a:buClr>
              <a:buSzPts val="1600"/>
              <a:buNone/>
              <a:defRPr sz="1600">
                <a:solidFill>
                  <a:srgbClr val="BFAD91"/>
                </a:solidFill>
              </a:defRPr>
            </a:lvl8pPr>
            <a:lvl9pPr indent="-228600" lvl="8" marL="4114800" algn="l">
              <a:lnSpc>
                <a:spcPct val="90000"/>
              </a:lnSpc>
              <a:spcBef>
                <a:spcPts val="500"/>
              </a:spcBef>
              <a:spcAft>
                <a:spcPts val="0"/>
              </a:spcAft>
              <a:buClr>
                <a:srgbClr val="BFAD91"/>
              </a:buClr>
              <a:buSzPts val="1600"/>
              <a:buNone/>
              <a:defRPr sz="1600">
                <a:solidFill>
                  <a:srgbClr val="BFAD91"/>
                </a:solidFill>
              </a:defRPr>
            </a:lvl9pPr>
          </a:lstStyle>
          <a:p/>
        </p:txBody>
      </p:sp>
      <p:sp>
        <p:nvSpPr>
          <p:cNvPr id="27" name="Google Shape;27;p4"/>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1477317" y="1825625"/>
            <a:ext cx="4913209"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2" type="body"/>
          </p:nvPr>
        </p:nvSpPr>
        <p:spPr>
          <a:xfrm>
            <a:off x="6678202" y="1825625"/>
            <a:ext cx="4675598"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7"/>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61050" y="344764"/>
            <a:ext cx="9892748" cy="87726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5200"/>
              <a:buFont typeface="Cormorant"/>
              <a:buNone/>
              <a:defRPr b="0" i="0" sz="5200" u="none" cap="none" strike="noStrike">
                <a:solidFill>
                  <a:schemeClr val="dk1"/>
                </a:solidFill>
                <a:latin typeface="Cormorant"/>
                <a:ea typeface="Cormorant"/>
                <a:cs typeface="Cormorant"/>
                <a:sym typeface="Cormoran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1461050" y="1401417"/>
            <a:ext cx="9892749" cy="477554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Nunito Sans"/>
                <a:ea typeface="Nunito Sans"/>
                <a:cs typeface="Nunito Sans"/>
                <a:sym typeface="Nunito Sans"/>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Nunito Sans"/>
                <a:ea typeface="Nunito Sans"/>
                <a:cs typeface="Nunito Sans"/>
                <a:sym typeface="Nunito Sans"/>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Nunito Sans"/>
                <a:ea typeface="Nunito Sans"/>
                <a:cs typeface="Nunito Sans"/>
                <a:sym typeface="Nunito Sans"/>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Nunito Sans"/>
                <a:ea typeface="Nunito Sans"/>
                <a:cs typeface="Nunito Sans"/>
                <a:sym typeface="Nunito Sans"/>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Nunito Sans"/>
                <a:ea typeface="Nunito Sans"/>
                <a:cs typeface="Nunito Sans"/>
                <a:sym typeface="Nuni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461050" y="6356350"/>
            <a:ext cx="212035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FAD91"/>
                </a:solidFill>
                <a:latin typeface="Cormorant"/>
                <a:ea typeface="Cormorant"/>
                <a:cs typeface="Cormorant"/>
                <a:sym typeface="Cormoran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BFAD91"/>
                </a:solidFill>
                <a:latin typeface="Cormorant"/>
                <a:ea typeface="Cormorant"/>
                <a:cs typeface="Cormorant"/>
                <a:sym typeface="Cormorant"/>
              </a:defRPr>
            </a:lvl1pPr>
            <a:lvl2pPr indent="0" lvl="1" marL="0" marR="0" rtl="0" algn="r">
              <a:spcBef>
                <a:spcPts val="0"/>
              </a:spcBef>
              <a:buNone/>
              <a:defRPr b="0" i="0" sz="1200" u="none" cap="none" strike="noStrike">
                <a:solidFill>
                  <a:srgbClr val="BFAD91"/>
                </a:solidFill>
                <a:latin typeface="Cormorant"/>
                <a:ea typeface="Cormorant"/>
                <a:cs typeface="Cormorant"/>
                <a:sym typeface="Cormorant"/>
              </a:defRPr>
            </a:lvl2pPr>
            <a:lvl3pPr indent="0" lvl="2" marL="0" marR="0" rtl="0" algn="r">
              <a:spcBef>
                <a:spcPts val="0"/>
              </a:spcBef>
              <a:buNone/>
              <a:defRPr b="0" i="0" sz="1200" u="none" cap="none" strike="noStrike">
                <a:solidFill>
                  <a:srgbClr val="BFAD91"/>
                </a:solidFill>
                <a:latin typeface="Cormorant"/>
                <a:ea typeface="Cormorant"/>
                <a:cs typeface="Cormorant"/>
                <a:sym typeface="Cormorant"/>
              </a:defRPr>
            </a:lvl3pPr>
            <a:lvl4pPr indent="0" lvl="3" marL="0" marR="0" rtl="0" algn="r">
              <a:spcBef>
                <a:spcPts val="0"/>
              </a:spcBef>
              <a:buNone/>
              <a:defRPr b="0" i="0" sz="1200" u="none" cap="none" strike="noStrike">
                <a:solidFill>
                  <a:srgbClr val="BFAD91"/>
                </a:solidFill>
                <a:latin typeface="Cormorant"/>
                <a:ea typeface="Cormorant"/>
                <a:cs typeface="Cormorant"/>
                <a:sym typeface="Cormorant"/>
              </a:defRPr>
            </a:lvl4pPr>
            <a:lvl5pPr indent="0" lvl="4" marL="0" marR="0" rtl="0" algn="r">
              <a:spcBef>
                <a:spcPts val="0"/>
              </a:spcBef>
              <a:buNone/>
              <a:defRPr b="0" i="0" sz="1200" u="none" cap="none" strike="noStrike">
                <a:solidFill>
                  <a:srgbClr val="BFAD91"/>
                </a:solidFill>
                <a:latin typeface="Cormorant"/>
                <a:ea typeface="Cormorant"/>
                <a:cs typeface="Cormorant"/>
                <a:sym typeface="Cormorant"/>
              </a:defRPr>
            </a:lvl5pPr>
            <a:lvl6pPr indent="0" lvl="5" marL="0" marR="0" rtl="0" algn="r">
              <a:spcBef>
                <a:spcPts val="0"/>
              </a:spcBef>
              <a:buNone/>
              <a:defRPr b="0" i="0" sz="1200" u="none" cap="none" strike="noStrike">
                <a:solidFill>
                  <a:srgbClr val="BFAD91"/>
                </a:solidFill>
                <a:latin typeface="Cormorant"/>
                <a:ea typeface="Cormorant"/>
                <a:cs typeface="Cormorant"/>
                <a:sym typeface="Cormorant"/>
              </a:defRPr>
            </a:lvl6pPr>
            <a:lvl7pPr indent="0" lvl="6" marL="0" marR="0" rtl="0" algn="r">
              <a:spcBef>
                <a:spcPts val="0"/>
              </a:spcBef>
              <a:buNone/>
              <a:defRPr b="0" i="0" sz="1200" u="none" cap="none" strike="noStrike">
                <a:solidFill>
                  <a:srgbClr val="BFAD91"/>
                </a:solidFill>
                <a:latin typeface="Cormorant"/>
                <a:ea typeface="Cormorant"/>
                <a:cs typeface="Cormorant"/>
                <a:sym typeface="Cormorant"/>
              </a:defRPr>
            </a:lvl7pPr>
            <a:lvl8pPr indent="0" lvl="7" marL="0" marR="0" rtl="0" algn="r">
              <a:spcBef>
                <a:spcPts val="0"/>
              </a:spcBef>
              <a:buNone/>
              <a:defRPr b="0" i="0" sz="1200" u="none" cap="none" strike="noStrike">
                <a:solidFill>
                  <a:srgbClr val="BFAD91"/>
                </a:solidFill>
                <a:latin typeface="Cormorant"/>
                <a:ea typeface="Cormorant"/>
                <a:cs typeface="Cormorant"/>
                <a:sym typeface="Cormorant"/>
              </a:defRPr>
            </a:lvl8pPr>
            <a:lvl9pPr indent="0" lvl="8" marL="0" marR="0" rtl="0" algn="r">
              <a:spcBef>
                <a:spcPts val="0"/>
              </a:spcBef>
              <a:buNone/>
              <a:defRPr b="0" i="0" sz="1200" u="none" cap="none" strike="noStrike">
                <a:solidFill>
                  <a:srgbClr val="BFAD91"/>
                </a:solidFill>
                <a:latin typeface="Cormorant"/>
                <a:ea typeface="Cormorant"/>
                <a:cs typeface="Cormorant"/>
                <a:sym typeface="Cormorant"/>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BFAD9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9"/>
          <p:cNvSpPr txBox="1"/>
          <p:nvPr>
            <p:ph type="ctrTitle"/>
          </p:nvPr>
        </p:nvSpPr>
        <p:spPr>
          <a:xfrm>
            <a:off x="2395870" y="1548830"/>
            <a:ext cx="9144000"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ormorant"/>
              <a:buNone/>
            </a:pPr>
            <a:r>
              <a:rPr lang="en-US"/>
              <a:t>Model Presentation</a:t>
            </a:r>
            <a:endParaRPr/>
          </a:p>
        </p:txBody>
      </p:sp>
      <p:sp>
        <p:nvSpPr>
          <p:cNvPr id="52" name="Google Shape;52;p9"/>
          <p:cNvSpPr txBox="1"/>
          <p:nvPr>
            <p:ph idx="1" type="subTitle"/>
          </p:nvPr>
        </p:nvSpPr>
        <p:spPr>
          <a:xfrm>
            <a:off x="2395870" y="4646428"/>
            <a:ext cx="9144000" cy="3651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rPr lang="en-US"/>
              <a:t>March 23rd</a:t>
            </a:r>
            <a:endParaRPr/>
          </a:p>
        </p:txBody>
      </p:sp>
      <p:sp>
        <p:nvSpPr>
          <p:cNvPr id="53" name="Google Shape;53;p9"/>
          <p:cNvSpPr txBox="1"/>
          <p:nvPr>
            <p:ph idx="2" type="body"/>
          </p:nvPr>
        </p:nvSpPr>
        <p:spPr>
          <a:xfrm>
            <a:off x="2395870" y="5091682"/>
            <a:ext cx="9144000" cy="4349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ormorant"/>
              <a:buNone/>
            </a:pPr>
            <a:r>
              <a:rPr lang="en-US"/>
              <a:t>AI Survey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0"/>
          <p:cNvSpPr txBox="1"/>
          <p:nvPr>
            <p:ph type="title"/>
          </p:nvPr>
        </p:nvSpPr>
        <p:spPr>
          <a:xfrm>
            <a:off x="1461050" y="344764"/>
            <a:ext cx="9892800" cy="877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Modeling Student AI Attitudes</a:t>
            </a:r>
            <a:endParaRPr/>
          </a:p>
        </p:txBody>
      </p:sp>
      <p:pic>
        <p:nvPicPr>
          <p:cNvPr id="59" name="Google Shape;59;p10"/>
          <p:cNvPicPr preferRelativeResize="0"/>
          <p:nvPr/>
        </p:nvPicPr>
        <p:blipFill>
          <a:blip r:embed="rId3">
            <a:alphaModFix/>
          </a:blip>
          <a:stretch>
            <a:fillRect/>
          </a:stretch>
        </p:blipFill>
        <p:spPr>
          <a:xfrm>
            <a:off x="0" y="3"/>
            <a:ext cx="12192001" cy="69934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1"/>
          <p:cNvSpPr txBox="1"/>
          <p:nvPr>
            <p:ph type="title"/>
          </p:nvPr>
        </p:nvSpPr>
        <p:spPr>
          <a:xfrm>
            <a:off x="1461050" y="344764"/>
            <a:ext cx="9892800" cy="877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pic>
        <p:nvPicPr>
          <p:cNvPr id="65" name="Google Shape;65;p11"/>
          <p:cNvPicPr preferRelativeResize="0"/>
          <p:nvPr/>
        </p:nvPicPr>
        <p:blipFill>
          <a:blip r:embed="rId3">
            <a:alphaModFix/>
          </a:blip>
          <a:stretch>
            <a:fillRect/>
          </a:stretch>
        </p:blipFill>
        <p:spPr>
          <a:xfrm>
            <a:off x="0" y="3"/>
            <a:ext cx="12192001" cy="69934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1461050" y="344764"/>
            <a:ext cx="9892800" cy="877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pic>
        <p:nvPicPr>
          <p:cNvPr id="71" name="Google Shape;71;p12"/>
          <p:cNvPicPr preferRelativeResize="0"/>
          <p:nvPr/>
        </p:nvPicPr>
        <p:blipFill>
          <a:blip r:embed="rId3">
            <a:alphaModFix/>
          </a:blip>
          <a:stretch>
            <a:fillRect/>
          </a:stretch>
        </p:blipFill>
        <p:spPr>
          <a:xfrm>
            <a:off x="0" y="3"/>
            <a:ext cx="12192001" cy="69934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76" name="Shape 76"/>
        <p:cNvGrpSpPr/>
        <p:nvPr/>
      </p:nvGrpSpPr>
      <p:grpSpPr>
        <a:xfrm>
          <a:off x="0" y="0"/>
          <a:ext cx="0" cy="0"/>
          <a:chOff x="0" y="0"/>
          <a:chExt cx="0" cy="0"/>
        </a:xfrm>
      </p:grpSpPr>
      <p:sp>
        <p:nvSpPr>
          <p:cNvPr id="77" name="Google Shape;77;p13"/>
          <p:cNvSpPr/>
          <p:nvPr/>
        </p:nvSpPr>
        <p:spPr>
          <a:xfrm>
            <a:off x="121920" y="12192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78" name="Google Shape;78;p13"/>
          <p:cNvSpPr/>
          <p:nvPr/>
        </p:nvSpPr>
        <p:spPr>
          <a:xfrm>
            <a:off x="2438400" y="36576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79" name="Google Shape;79;p13"/>
          <p:cNvSpPr/>
          <p:nvPr/>
        </p:nvSpPr>
        <p:spPr>
          <a:xfrm>
            <a:off x="5120640" y="6096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0" name="Google Shape;80;p13"/>
          <p:cNvSpPr/>
          <p:nvPr/>
        </p:nvSpPr>
        <p:spPr>
          <a:xfrm>
            <a:off x="7924800" y="24384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1" name="Google Shape;81;p13"/>
          <p:cNvSpPr/>
          <p:nvPr/>
        </p:nvSpPr>
        <p:spPr>
          <a:xfrm>
            <a:off x="10119360" y="12192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2" name="Google Shape;82;p13"/>
          <p:cNvSpPr/>
          <p:nvPr/>
        </p:nvSpPr>
        <p:spPr>
          <a:xfrm>
            <a:off x="11704320" y="48768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3" name="Google Shape;83;p13"/>
          <p:cNvSpPr/>
          <p:nvPr/>
        </p:nvSpPr>
        <p:spPr>
          <a:xfrm>
            <a:off x="365760" y="195072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4" name="Google Shape;84;p13"/>
          <p:cNvSpPr/>
          <p:nvPr/>
        </p:nvSpPr>
        <p:spPr>
          <a:xfrm>
            <a:off x="3048000" y="219456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5" name="Google Shape;85;p13"/>
          <p:cNvSpPr/>
          <p:nvPr/>
        </p:nvSpPr>
        <p:spPr>
          <a:xfrm>
            <a:off x="5852160" y="182880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6" name="Google Shape;86;p13"/>
          <p:cNvSpPr/>
          <p:nvPr/>
        </p:nvSpPr>
        <p:spPr>
          <a:xfrm>
            <a:off x="8534400" y="207264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7" name="Google Shape;87;p13"/>
          <p:cNvSpPr/>
          <p:nvPr/>
        </p:nvSpPr>
        <p:spPr>
          <a:xfrm>
            <a:off x="11094720" y="182880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8" name="Google Shape;88;p13"/>
          <p:cNvSpPr/>
          <p:nvPr/>
        </p:nvSpPr>
        <p:spPr>
          <a:xfrm>
            <a:off x="0" y="365760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9" name="Google Shape;89;p13"/>
          <p:cNvSpPr/>
          <p:nvPr/>
        </p:nvSpPr>
        <p:spPr>
          <a:xfrm>
            <a:off x="2194560" y="390144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0" name="Google Shape;90;p13"/>
          <p:cNvSpPr/>
          <p:nvPr/>
        </p:nvSpPr>
        <p:spPr>
          <a:xfrm>
            <a:off x="4754880" y="353568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1" name="Google Shape;91;p13"/>
          <p:cNvSpPr/>
          <p:nvPr/>
        </p:nvSpPr>
        <p:spPr>
          <a:xfrm>
            <a:off x="7437120" y="377952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2" name="Google Shape;92;p13"/>
          <p:cNvSpPr/>
          <p:nvPr/>
        </p:nvSpPr>
        <p:spPr>
          <a:xfrm>
            <a:off x="9753600" y="365760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3" name="Google Shape;93;p13"/>
          <p:cNvSpPr/>
          <p:nvPr/>
        </p:nvSpPr>
        <p:spPr>
          <a:xfrm>
            <a:off x="11826240" y="402336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4" name="Google Shape;94;p13"/>
          <p:cNvSpPr/>
          <p:nvPr/>
        </p:nvSpPr>
        <p:spPr>
          <a:xfrm>
            <a:off x="243840" y="536448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5" name="Google Shape;95;p13"/>
          <p:cNvSpPr/>
          <p:nvPr/>
        </p:nvSpPr>
        <p:spPr>
          <a:xfrm>
            <a:off x="2804160" y="560832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6" name="Google Shape;96;p13"/>
          <p:cNvSpPr/>
          <p:nvPr/>
        </p:nvSpPr>
        <p:spPr>
          <a:xfrm>
            <a:off x="5486400" y="524256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7" name="Google Shape;97;p13"/>
          <p:cNvSpPr/>
          <p:nvPr/>
        </p:nvSpPr>
        <p:spPr>
          <a:xfrm>
            <a:off x="8168640" y="548640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8" name="Google Shape;98;p13"/>
          <p:cNvSpPr/>
          <p:nvPr/>
        </p:nvSpPr>
        <p:spPr>
          <a:xfrm>
            <a:off x="10363200" y="5364480"/>
            <a:ext cx="4875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A1A1A"/>
              </a:buClr>
              <a:buSzPts val="1900"/>
              <a:buFont typeface="Calibri"/>
              <a:buNone/>
            </a:pPr>
            <a:r>
              <a:rPr b="0" i="0" lang="en-US" sz="1900" u="none" cap="none" strike="noStrike">
                <a:solidFill>
                  <a:srgbClr val="1A1A1A"/>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99" name="Google Shape;99;p13"/>
          <p:cNvSpPr/>
          <p:nvPr/>
        </p:nvSpPr>
        <p:spPr>
          <a:xfrm>
            <a:off x="0" y="0"/>
            <a:ext cx="219600" cy="6858000"/>
          </a:xfrm>
          <a:prstGeom prst="rect">
            <a:avLst/>
          </a:prstGeom>
          <a:solidFill>
            <a:srgbClr val="B8962E"/>
          </a:solidFill>
          <a:ln cap="flat" cmpd="sng" w="16925">
            <a:solidFill>
              <a:srgbClr val="B896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 name="Google Shape;100;p13"/>
          <p:cNvSpPr/>
          <p:nvPr/>
        </p:nvSpPr>
        <p:spPr>
          <a:xfrm>
            <a:off x="0" y="0"/>
            <a:ext cx="12192000" cy="73200"/>
          </a:xfrm>
          <a:prstGeom prst="rect">
            <a:avLst/>
          </a:prstGeom>
          <a:solidFill>
            <a:srgbClr val="B8962E"/>
          </a:solidFill>
          <a:ln cap="flat" cmpd="sng" w="16925">
            <a:solidFill>
              <a:srgbClr val="B896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 name="Google Shape;101;p13"/>
          <p:cNvSpPr/>
          <p:nvPr/>
        </p:nvSpPr>
        <p:spPr>
          <a:xfrm>
            <a:off x="0" y="6784848"/>
            <a:ext cx="12192000" cy="73200"/>
          </a:xfrm>
          <a:prstGeom prst="rect">
            <a:avLst/>
          </a:prstGeom>
          <a:solidFill>
            <a:srgbClr val="B8962E"/>
          </a:solidFill>
          <a:ln cap="flat" cmpd="sng" w="16925">
            <a:solidFill>
              <a:srgbClr val="B896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 name="Google Shape;102;p13"/>
          <p:cNvSpPr/>
          <p:nvPr/>
        </p:nvSpPr>
        <p:spPr>
          <a:xfrm>
            <a:off x="609600" y="853440"/>
            <a:ext cx="10972800" cy="5120700"/>
          </a:xfrm>
          <a:prstGeom prst="rect">
            <a:avLst/>
          </a:prstGeom>
          <a:solidFill>
            <a:srgbClr val="111111">
              <a:alpha val="80000"/>
            </a:srgbClr>
          </a:solidFill>
          <a:ln cap="flat" cmpd="sng" w="25400">
            <a:solidFill>
              <a:srgbClr val="B896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103" name="Google Shape;103;p13"/>
          <p:cNvCxnSpPr/>
          <p:nvPr/>
        </p:nvCxnSpPr>
        <p:spPr>
          <a:xfrm>
            <a:off x="3048000" y="1609344"/>
            <a:ext cx="6096000" cy="0"/>
          </a:xfrm>
          <a:prstGeom prst="straightConnector1">
            <a:avLst/>
          </a:prstGeom>
          <a:noFill/>
          <a:ln cap="flat" cmpd="sng" w="13525">
            <a:solidFill>
              <a:srgbClr val="B8962E"/>
            </a:solidFill>
            <a:prstDash val="solid"/>
            <a:round/>
            <a:headEnd len="sm" w="sm" type="none"/>
            <a:tailEnd len="sm" w="sm" type="none"/>
          </a:ln>
        </p:spPr>
      </p:cxnSp>
      <p:sp>
        <p:nvSpPr>
          <p:cNvPr id="104" name="Google Shape;104;p13"/>
          <p:cNvSpPr/>
          <p:nvPr/>
        </p:nvSpPr>
        <p:spPr>
          <a:xfrm>
            <a:off x="853440" y="1767840"/>
            <a:ext cx="10485300" cy="1036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9A84C"/>
              </a:buClr>
              <a:buSzPts val="5100"/>
              <a:buFont typeface="Georgia"/>
              <a:buNone/>
            </a:pPr>
            <a:r>
              <a:rPr i="1" lang="en-US" sz="5100" u="none" cap="none" strike="noStrike">
                <a:solidFill>
                  <a:srgbClr val="C9A84C"/>
                </a:solidFill>
                <a:latin typeface="Cormorant Medium"/>
                <a:ea typeface="Cormorant Medium"/>
                <a:cs typeface="Cormorant Medium"/>
                <a:sym typeface="Cormorant Medium"/>
              </a:rPr>
              <a:t>Student-Reported Attitudes</a:t>
            </a:r>
            <a:endParaRPr i="0" sz="5100" u="none" cap="none" strike="noStrike">
              <a:solidFill>
                <a:schemeClr val="dk1"/>
              </a:solidFill>
              <a:latin typeface="Cormorant Medium"/>
              <a:ea typeface="Cormorant Medium"/>
              <a:cs typeface="Cormorant Medium"/>
              <a:sym typeface="Cormorant Medium"/>
            </a:endParaRPr>
          </a:p>
        </p:txBody>
      </p:sp>
      <p:sp>
        <p:nvSpPr>
          <p:cNvPr id="105" name="Google Shape;105;p13"/>
          <p:cNvSpPr/>
          <p:nvPr/>
        </p:nvSpPr>
        <p:spPr>
          <a:xfrm>
            <a:off x="853440" y="2682240"/>
            <a:ext cx="104853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9A84C"/>
              </a:buClr>
              <a:buSzPts val="5100"/>
              <a:buFont typeface="Georgia"/>
              <a:buNone/>
            </a:pPr>
            <a:r>
              <a:rPr i="1" lang="en-US" sz="5100" u="none" cap="none" strike="noStrike">
                <a:solidFill>
                  <a:srgbClr val="C9A84C"/>
                </a:solidFill>
                <a:latin typeface="Cormorant Medium"/>
                <a:ea typeface="Cormorant Medium"/>
                <a:cs typeface="Cormorant Medium"/>
                <a:sym typeface="Cormorant Medium"/>
              </a:rPr>
              <a:t>Toward Generative AI</a:t>
            </a:r>
            <a:endParaRPr i="0" sz="5100" u="none" cap="none" strike="noStrike">
              <a:solidFill>
                <a:schemeClr val="dk1"/>
              </a:solidFill>
              <a:latin typeface="Cormorant Medium"/>
              <a:ea typeface="Cormorant Medium"/>
              <a:cs typeface="Cormorant Medium"/>
              <a:sym typeface="Cormorant Medium"/>
            </a:endParaRPr>
          </a:p>
        </p:txBody>
      </p:sp>
      <p:sp>
        <p:nvSpPr>
          <p:cNvPr id="106" name="Google Shape;106;p13"/>
          <p:cNvSpPr/>
          <p:nvPr/>
        </p:nvSpPr>
        <p:spPr>
          <a:xfrm>
            <a:off x="853440" y="3718560"/>
            <a:ext cx="104853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D4D4D4"/>
              </a:buClr>
              <a:buSzPts val="2400"/>
              <a:buFont typeface="Calibri"/>
              <a:buNone/>
            </a:pPr>
            <a:r>
              <a:rPr i="0" lang="en-US" sz="2400" u="none" cap="none" strike="noStrike">
                <a:solidFill>
                  <a:srgbClr val="D4D4D4"/>
                </a:solidFill>
                <a:latin typeface="Cormorant"/>
                <a:ea typeface="Cormorant"/>
                <a:cs typeface="Cormorant"/>
                <a:sym typeface="Cormorant"/>
              </a:rPr>
              <a:t>Using Likert Scale Measures</a:t>
            </a:r>
            <a:endParaRPr i="0" sz="2400" u="none" cap="none" strike="noStrike">
              <a:solidFill>
                <a:schemeClr val="dk1"/>
              </a:solidFill>
              <a:latin typeface="Cormorant"/>
              <a:ea typeface="Cormorant"/>
              <a:cs typeface="Cormorant"/>
              <a:sym typeface="Cormorant"/>
            </a:endParaRPr>
          </a:p>
        </p:txBody>
      </p:sp>
      <p:cxnSp>
        <p:nvCxnSpPr>
          <p:cNvPr id="107" name="Google Shape;107;p13"/>
          <p:cNvCxnSpPr/>
          <p:nvPr/>
        </p:nvCxnSpPr>
        <p:spPr>
          <a:xfrm>
            <a:off x="3657600" y="4389120"/>
            <a:ext cx="4876800" cy="0"/>
          </a:xfrm>
          <a:prstGeom prst="straightConnector1">
            <a:avLst/>
          </a:prstGeom>
          <a:noFill/>
          <a:ln cap="flat" cmpd="sng" w="13525">
            <a:solidFill>
              <a:srgbClr val="B8962E"/>
            </a:solidFill>
            <a:prstDash val="solid"/>
            <a:round/>
            <a:headEnd len="sm" w="sm" type="none"/>
            <a:tailEnd len="sm" w="sm" type="none"/>
          </a:ln>
        </p:spPr>
      </p:cxnSp>
      <p:sp>
        <p:nvSpPr>
          <p:cNvPr id="108" name="Google Shape;108;p13"/>
          <p:cNvSpPr/>
          <p:nvPr/>
        </p:nvSpPr>
        <p:spPr>
          <a:xfrm>
            <a:off x="853440" y="4535424"/>
            <a:ext cx="104853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88888"/>
              </a:buClr>
              <a:buSzPts val="1700"/>
              <a:buFont typeface="Calibri"/>
              <a:buNone/>
            </a:pPr>
            <a:r>
              <a:rPr i="1" lang="en-US" sz="1700" u="none" cap="none" strike="noStrike">
                <a:solidFill>
                  <a:srgbClr val="888888"/>
                </a:solidFill>
                <a:latin typeface="Cormorant"/>
                <a:ea typeface="Cormorant"/>
                <a:cs typeface="Cormorant"/>
                <a:sym typeface="Cormorant"/>
              </a:rPr>
              <a:t>Business School Students  ·  n = 349</a:t>
            </a:r>
            <a:endParaRPr i="0" sz="1700" u="none" cap="none" strike="noStrike">
              <a:solidFill>
                <a:schemeClr val="dk1"/>
              </a:solidFill>
              <a:latin typeface="Cormorant"/>
              <a:ea typeface="Cormorant"/>
              <a:cs typeface="Cormorant"/>
              <a:sym typeface="Cormorant"/>
            </a:endParaRPr>
          </a:p>
        </p:txBody>
      </p:sp>
      <p:sp>
        <p:nvSpPr>
          <p:cNvPr id="109" name="Google Shape;109;p13"/>
          <p:cNvSpPr/>
          <p:nvPr/>
        </p:nvSpPr>
        <p:spPr>
          <a:xfrm>
            <a:off x="1341120" y="5120640"/>
            <a:ext cx="3048000" cy="548700"/>
          </a:xfrm>
          <a:prstGeom prst="rect">
            <a:avLst/>
          </a:prstGeom>
          <a:solidFill>
            <a:srgbClr val="1E1A0E"/>
          </a:solidFill>
          <a:ln cap="flat" cmpd="sng" w="16925">
            <a:solidFill>
              <a:srgbClr val="B896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 name="Google Shape;110;p13"/>
          <p:cNvSpPr/>
          <p:nvPr/>
        </p:nvSpPr>
        <p:spPr>
          <a:xfrm>
            <a:off x="1341120" y="5120640"/>
            <a:ext cx="304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9A84C"/>
              </a:buClr>
              <a:buSzPts val="1500"/>
              <a:buFont typeface="Calibri"/>
              <a:buNone/>
            </a:pPr>
            <a:r>
              <a:rPr b="1" i="0" lang="en-US" sz="1500" u="none" cap="none" strike="noStrike">
                <a:solidFill>
                  <a:srgbClr val="C9A84C"/>
                </a:solidFill>
                <a:latin typeface="Cormorant"/>
                <a:ea typeface="Cormorant"/>
                <a:cs typeface="Cormorant"/>
                <a:sym typeface="Cormorant"/>
              </a:rPr>
              <a:t>Academic Integrity</a:t>
            </a:r>
            <a:endParaRPr i="0" sz="1500" u="none" cap="none" strike="noStrike">
              <a:solidFill>
                <a:schemeClr val="dk1"/>
              </a:solidFill>
              <a:latin typeface="Cormorant"/>
              <a:ea typeface="Cormorant"/>
              <a:cs typeface="Cormorant"/>
              <a:sym typeface="Cormorant"/>
            </a:endParaRPr>
          </a:p>
        </p:txBody>
      </p:sp>
      <p:sp>
        <p:nvSpPr>
          <p:cNvPr id="111" name="Google Shape;111;p13"/>
          <p:cNvSpPr/>
          <p:nvPr/>
        </p:nvSpPr>
        <p:spPr>
          <a:xfrm>
            <a:off x="4693920" y="5120640"/>
            <a:ext cx="3048000" cy="548700"/>
          </a:xfrm>
          <a:prstGeom prst="rect">
            <a:avLst/>
          </a:prstGeom>
          <a:solidFill>
            <a:srgbClr val="1E1A0E"/>
          </a:solidFill>
          <a:ln cap="flat" cmpd="sng" w="16925">
            <a:solidFill>
              <a:srgbClr val="B896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p13"/>
          <p:cNvSpPr/>
          <p:nvPr/>
        </p:nvSpPr>
        <p:spPr>
          <a:xfrm>
            <a:off x="4693920" y="5120640"/>
            <a:ext cx="304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9A84C"/>
              </a:buClr>
              <a:buSzPts val="1500"/>
              <a:buFont typeface="Calibri"/>
              <a:buNone/>
            </a:pPr>
            <a:r>
              <a:rPr b="1" i="0" lang="en-US" sz="1500" u="none" cap="none" strike="noStrike">
                <a:solidFill>
                  <a:srgbClr val="C9A84C"/>
                </a:solidFill>
                <a:latin typeface="Cormorant"/>
                <a:ea typeface="Cormorant"/>
                <a:cs typeface="Cormorant"/>
                <a:sym typeface="Cormorant"/>
              </a:rPr>
              <a:t>Critical Thinking</a:t>
            </a:r>
            <a:endParaRPr i="0" sz="1500" u="none" cap="none" strike="noStrike">
              <a:solidFill>
                <a:schemeClr val="dk1"/>
              </a:solidFill>
              <a:latin typeface="Cormorant"/>
              <a:ea typeface="Cormorant"/>
              <a:cs typeface="Cormorant"/>
              <a:sym typeface="Cormorant"/>
            </a:endParaRPr>
          </a:p>
        </p:txBody>
      </p:sp>
      <p:sp>
        <p:nvSpPr>
          <p:cNvPr id="113" name="Google Shape;113;p13"/>
          <p:cNvSpPr/>
          <p:nvPr/>
        </p:nvSpPr>
        <p:spPr>
          <a:xfrm>
            <a:off x="7985760" y="5120640"/>
            <a:ext cx="3048000" cy="548700"/>
          </a:xfrm>
          <a:prstGeom prst="rect">
            <a:avLst/>
          </a:prstGeom>
          <a:solidFill>
            <a:srgbClr val="1E1A0E"/>
          </a:solidFill>
          <a:ln cap="flat" cmpd="sng" w="16925">
            <a:solidFill>
              <a:srgbClr val="B8962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p13"/>
          <p:cNvSpPr/>
          <p:nvPr/>
        </p:nvSpPr>
        <p:spPr>
          <a:xfrm>
            <a:off x="7985760" y="5120640"/>
            <a:ext cx="304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9A84C"/>
              </a:buClr>
              <a:buSzPts val="1500"/>
              <a:buFont typeface="Calibri"/>
              <a:buNone/>
            </a:pPr>
            <a:r>
              <a:rPr b="1" i="0" lang="en-US" sz="1500" u="none" cap="none" strike="noStrike">
                <a:solidFill>
                  <a:srgbClr val="C9A84C"/>
                </a:solidFill>
                <a:latin typeface="Cormorant"/>
                <a:ea typeface="Cormorant"/>
                <a:cs typeface="Cormorant"/>
                <a:sym typeface="Cormorant"/>
              </a:rPr>
              <a:t>Workforce Readiness</a:t>
            </a:r>
            <a:endParaRPr i="0" sz="1500" u="none" cap="none" strike="noStrike">
              <a:solidFill>
                <a:schemeClr val="dk1"/>
              </a:solidFill>
              <a:latin typeface="Cormorant"/>
              <a:ea typeface="Cormorant"/>
              <a:cs typeface="Cormorant"/>
              <a:sym typeface="Cormoran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pic>
        <p:nvPicPr>
          <p:cNvPr id="119" name="Google Shape;119;p14" title="Screenshot 2026-03-18 at 2.42.37 PM.png"/>
          <p:cNvPicPr preferRelativeResize="0"/>
          <p:nvPr/>
        </p:nvPicPr>
        <p:blipFill rotWithShape="1">
          <a:blip r:embed="rId4">
            <a:alphaModFix/>
          </a:blip>
          <a:srcRect b="0" l="0" r="1274" t="0"/>
          <a:stretch/>
        </p:blipFill>
        <p:spPr>
          <a:xfrm>
            <a:off x="0" y="349613"/>
            <a:ext cx="12192000" cy="52098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5"/>
          <p:cNvSpPr txBox="1"/>
          <p:nvPr>
            <p:ph idx="1" type="body"/>
          </p:nvPr>
        </p:nvSpPr>
        <p:spPr>
          <a:xfrm>
            <a:off x="1461050" y="1401417"/>
            <a:ext cx="9892800" cy="4775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25" name="Google Shape;125;p15" title="Screenshot 2026-03-18 at 2.43.11 PM.png"/>
          <p:cNvPicPr preferRelativeResize="0"/>
          <p:nvPr/>
        </p:nvPicPr>
        <p:blipFill>
          <a:blip r:embed="rId3">
            <a:alphaModFix/>
          </a:blip>
          <a:stretch>
            <a:fillRect/>
          </a:stretch>
        </p:blipFill>
        <p:spPr>
          <a:xfrm>
            <a:off x="641900" y="804225"/>
            <a:ext cx="9939052" cy="4848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txBox="1"/>
          <p:nvPr>
            <p:ph idx="1" type="body"/>
          </p:nvPr>
        </p:nvSpPr>
        <p:spPr>
          <a:xfrm>
            <a:off x="1461050" y="1401417"/>
            <a:ext cx="9892800" cy="4775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31" name="Google Shape;131;p16" title="Screenshot 2026-03-18 at 2.44.45 PM.png"/>
          <p:cNvPicPr preferRelativeResize="0"/>
          <p:nvPr/>
        </p:nvPicPr>
        <p:blipFill rotWithShape="1">
          <a:blip r:embed="rId3">
            <a:alphaModFix/>
          </a:blip>
          <a:srcRect b="0" l="0" r="0" t="0"/>
          <a:stretch/>
        </p:blipFill>
        <p:spPr>
          <a:xfrm>
            <a:off x="553652" y="997398"/>
            <a:ext cx="9892803" cy="34006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type="title"/>
          </p:nvPr>
        </p:nvSpPr>
        <p:spPr>
          <a:xfrm>
            <a:off x="1461050" y="344764"/>
            <a:ext cx="9892800" cy="877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Sentiment Analysis</a:t>
            </a:r>
            <a:endParaRPr/>
          </a:p>
        </p:txBody>
      </p:sp>
      <p:sp>
        <p:nvSpPr>
          <p:cNvPr id="137" name="Google Shape;137;p17"/>
          <p:cNvSpPr txBox="1"/>
          <p:nvPr>
            <p:ph idx="1" type="body"/>
          </p:nvPr>
        </p:nvSpPr>
        <p:spPr>
          <a:xfrm>
            <a:off x="1461050" y="1401417"/>
            <a:ext cx="9892800" cy="4775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38" name="Google Shape;138;p17"/>
          <p:cNvPicPr preferRelativeResize="0"/>
          <p:nvPr/>
        </p:nvPicPr>
        <p:blipFill>
          <a:blip r:embed="rId3">
            <a:alphaModFix/>
          </a:blip>
          <a:stretch>
            <a:fillRect/>
          </a:stretch>
        </p:blipFill>
        <p:spPr>
          <a:xfrm>
            <a:off x="0" y="393"/>
            <a:ext cx="12192002" cy="6857215"/>
          </a:xfrm>
          <a:prstGeom prst="rect">
            <a:avLst/>
          </a:prstGeom>
          <a:noFill/>
          <a:ln>
            <a:noFill/>
          </a:ln>
        </p:spPr>
      </p:pic>
      <p:pic>
        <p:nvPicPr>
          <p:cNvPr id="139" name="Google Shape;139;p17"/>
          <p:cNvPicPr preferRelativeResize="0"/>
          <p:nvPr/>
        </p:nvPicPr>
        <p:blipFill>
          <a:blip r:embed="rId4">
            <a:alphaModFix/>
          </a:blip>
          <a:stretch>
            <a:fillRect/>
          </a:stretch>
        </p:blipFill>
        <p:spPr>
          <a:xfrm>
            <a:off x="11079800" y="6416825"/>
            <a:ext cx="998449" cy="441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8"/>
          <p:cNvSpPr txBox="1"/>
          <p:nvPr>
            <p:ph type="title"/>
          </p:nvPr>
        </p:nvSpPr>
        <p:spPr>
          <a:xfrm>
            <a:off x="1245625" y="2990389"/>
            <a:ext cx="9892800" cy="877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A38342"/>
      </a:dk1>
      <a:lt1>
        <a:srgbClr val="FFFFFF"/>
      </a:lt1>
      <a:dk2>
        <a:srgbClr val="000000"/>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